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tiff" ContentType="image/tif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63" r:id="rId3"/>
    <p:sldId id="257" r:id="rId4"/>
    <p:sldId id="265" r:id="rId5"/>
    <p:sldId id="258" r:id="rId6"/>
    <p:sldId id="266" r:id="rId7"/>
    <p:sldId id="267" r:id="rId8"/>
    <p:sldId id="259" r:id="rId9"/>
    <p:sldId id="268" r:id="rId10"/>
    <p:sldId id="269" r:id="rId11"/>
    <p:sldId id="261" r:id="rId12"/>
    <p:sldId id="270" r:id="rId13"/>
    <p:sldId id="271" r:id="rId14"/>
    <p:sldId id="260" r:id="rId15"/>
    <p:sldId id="264" r:id="rId16"/>
    <p:sldId id="26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0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0" autoAdjust="0"/>
    <p:restoredTop sz="95221" autoAdjust="0"/>
  </p:normalViewPr>
  <p:slideViewPr>
    <p:cSldViewPr snapToGrid="0">
      <p:cViewPr varScale="1">
        <p:scale>
          <a:sx n="80" d="100"/>
          <a:sy n="80" d="100"/>
        </p:scale>
        <p:origin x="114" y="13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367C35-6F5A-4399-A2F6-E1219D88DC3F}" type="datetimeFigureOut">
              <a:rPr lang="en-GB" smtClean="0"/>
              <a:t>28/06/2018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DB00D0-DE12-470F-877A-31F5E9C9916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899018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1440" y="1916833"/>
            <a:ext cx="10770009" cy="533921"/>
          </a:xfrm>
        </p:spPr>
        <p:txBody>
          <a:bodyPr>
            <a:normAutofit/>
          </a:bodyPr>
          <a:lstStyle>
            <a:lvl1pPr>
              <a:lnSpc>
                <a:spcPts val="2500"/>
              </a:lnSpc>
              <a:defRPr sz="3600" b="0">
                <a:solidFill>
                  <a:srgbClr val="6D6E7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41440" y="3033486"/>
            <a:ext cx="10767484" cy="566057"/>
          </a:xfrm>
        </p:spPr>
        <p:txBody>
          <a:bodyPr>
            <a:noAutofit/>
          </a:bodyPr>
          <a:lstStyle>
            <a:lvl1pPr marL="0" indent="0" algn="l">
              <a:lnSpc>
                <a:spcPts val="1800"/>
              </a:lnSpc>
              <a:spcBef>
                <a:spcPts val="0"/>
              </a:spcBef>
              <a:buNone/>
              <a:defRPr>
                <a:solidFill>
                  <a:srgbClr val="6D6E7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  <a:p>
            <a:r>
              <a:rPr lang="en-US" dirty="0"/>
              <a:t>Click to edit Master subtitle style</a:t>
            </a:r>
            <a:endParaRPr lang="en-GB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667" y="692696"/>
            <a:ext cx="10767484" cy="504280"/>
          </a:xfrm>
        </p:spPr>
        <p:txBody>
          <a:bodyPr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405" y="1484784"/>
            <a:ext cx="8832980" cy="4031779"/>
          </a:xfrm>
        </p:spPr>
        <p:txBody>
          <a:bodyPr/>
          <a:lstStyle>
            <a:lvl1pPr>
              <a:spcBef>
                <a:spcPts val="1000"/>
              </a:spcBef>
              <a:spcAft>
                <a:spcPts val="0"/>
              </a:spcAft>
              <a:defRPr/>
            </a:lvl1pPr>
            <a:lvl2pPr>
              <a:lnSpc>
                <a:spcPts val="1800"/>
              </a:lnSpc>
              <a:spcBef>
                <a:spcPts val="600"/>
              </a:spcBef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404" y="1484313"/>
            <a:ext cx="10767747" cy="517330"/>
          </a:xfrm>
        </p:spPr>
        <p:txBody>
          <a:bodyPr>
            <a:noAutofit/>
          </a:bodyPr>
          <a:lstStyle>
            <a:lvl1pPr marL="0" indent="0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lnSpc>
                <a:spcPts val="1800"/>
              </a:lnSpc>
              <a:spcBef>
                <a:spcPts val="600"/>
              </a:spcBef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Chart Placeholder 4"/>
          <p:cNvSpPr>
            <a:spLocks noGrp="1"/>
          </p:cNvSpPr>
          <p:nvPr>
            <p:ph type="chart" sz="quarter" idx="10" hasCustomPrompt="1"/>
          </p:nvPr>
        </p:nvSpPr>
        <p:spPr>
          <a:xfrm>
            <a:off x="719667" y="2492897"/>
            <a:ext cx="10767484" cy="3096344"/>
          </a:xfrm>
        </p:spPr>
        <p:txBody>
          <a:bodyPr rtlCol="0">
            <a:normAutofit/>
          </a:bodyPr>
          <a:lstStyle>
            <a:lvl1pPr>
              <a:buNone/>
              <a:defRPr sz="1100"/>
            </a:lvl1pPr>
          </a:lstStyle>
          <a:p>
            <a:pPr lvl="0"/>
            <a:r>
              <a:rPr lang="en-US" noProof="0" dirty="0"/>
              <a:t>Click icon to add chart</a:t>
            </a:r>
            <a:endParaRPr lang="en-GB" noProof="0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719667" y="2132857"/>
            <a:ext cx="6144684" cy="288925"/>
          </a:xfrm>
        </p:spPr>
        <p:txBody>
          <a:bodyPr/>
          <a:lstStyle>
            <a:lvl1pPr marL="0" indent="0">
              <a:buFontTx/>
              <a:buNone/>
              <a:defRPr b="1">
                <a:solidFill>
                  <a:srgbClr val="6D6E7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en-GB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404" y="1255487"/>
            <a:ext cx="10767747" cy="517330"/>
          </a:xfrm>
        </p:spPr>
        <p:txBody>
          <a:bodyPr>
            <a:noAutofit/>
          </a:bodyPr>
          <a:lstStyle>
            <a:lvl1pPr marL="0" indent="0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lnSpc>
                <a:spcPts val="1800"/>
              </a:lnSpc>
              <a:spcBef>
                <a:spcPts val="600"/>
              </a:spcBef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719667" y="1988841"/>
            <a:ext cx="6144684" cy="288925"/>
          </a:xfrm>
        </p:spPr>
        <p:txBody>
          <a:bodyPr/>
          <a:lstStyle>
            <a:lvl1pPr marL="0" indent="0">
              <a:buFontTx/>
              <a:buNone/>
              <a:defRPr b="1">
                <a:solidFill>
                  <a:srgbClr val="6D6E7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en-GB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and Pie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404" y="1484784"/>
            <a:ext cx="10767747" cy="288033"/>
          </a:xfrm>
        </p:spPr>
        <p:txBody>
          <a:bodyPr>
            <a:noAutofit/>
          </a:bodyPr>
          <a:lstStyle>
            <a:lvl1pPr marL="0" indent="0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lnSpc>
                <a:spcPts val="1800"/>
              </a:lnSpc>
              <a:spcBef>
                <a:spcPts val="600"/>
              </a:spcBef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Chart Placeholder 4"/>
          <p:cNvSpPr>
            <a:spLocks noGrp="1"/>
          </p:cNvSpPr>
          <p:nvPr>
            <p:ph type="chart" sz="quarter" idx="10" hasCustomPrompt="1"/>
          </p:nvPr>
        </p:nvSpPr>
        <p:spPr>
          <a:xfrm>
            <a:off x="5519937" y="2348880"/>
            <a:ext cx="5967215" cy="3528392"/>
          </a:xfrm>
        </p:spPr>
        <p:txBody>
          <a:bodyPr rtlCol="0">
            <a:normAutofit/>
          </a:bodyPr>
          <a:lstStyle>
            <a:lvl1pPr>
              <a:buNone/>
              <a:defRPr sz="1100"/>
            </a:lvl1pPr>
          </a:lstStyle>
          <a:p>
            <a:pPr lvl="0"/>
            <a:r>
              <a:rPr lang="en-US" noProof="0" dirty="0"/>
              <a:t>Click icon to add chart</a:t>
            </a:r>
            <a:endParaRPr lang="en-GB" noProof="0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719667" y="1988841"/>
            <a:ext cx="6144684" cy="288925"/>
          </a:xfrm>
        </p:spPr>
        <p:txBody>
          <a:bodyPr/>
          <a:lstStyle>
            <a:lvl1pPr marL="0" indent="0">
              <a:buFontTx/>
              <a:buNone/>
              <a:defRPr b="1">
                <a:solidFill>
                  <a:srgbClr val="6D6E7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en-GB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719667" y="2348874"/>
            <a:ext cx="5088467" cy="3240367"/>
          </a:xfrm>
        </p:spPr>
        <p:txBody>
          <a:bodyPr/>
          <a:lstStyle>
            <a:lvl1pPr>
              <a:lnSpc>
                <a:spcPts val="1900"/>
              </a:lnSpc>
              <a:spcBef>
                <a:spcPts val="800"/>
              </a:spcBef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  <a:endParaRPr lang="en-GB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9667" y="1484313"/>
            <a:ext cx="5274733" cy="4268334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Chart Placeholder 9"/>
          <p:cNvSpPr>
            <a:spLocks noGrp="1"/>
          </p:cNvSpPr>
          <p:nvPr>
            <p:ph type="chart" sz="quarter" idx="14" hasCustomPrompt="1"/>
          </p:nvPr>
        </p:nvSpPr>
        <p:spPr>
          <a:xfrm>
            <a:off x="6480043" y="1484314"/>
            <a:ext cx="5007108" cy="4268333"/>
          </a:xfrm>
        </p:spPr>
        <p:txBody>
          <a:bodyPr rtlCol="0">
            <a:normAutofit/>
          </a:bodyPr>
          <a:lstStyle>
            <a:lvl1pPr>
              <a:buNone/>
              <a:defRPr sz="900"/>
            </a:lvl1pPr>
          </a:lstStyle>
          <a:p>
            <a:pPr lvl="0"/>
            <a:r>
              <a:rPr lang="en-US" noProof="0" dirty="0"/>
              <a:t>Click icon to add chart</a:t>
            </a:r>
            <a:endParaRPr lang="en-GB" noProof="0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Chart Placeholder 7"/>
          <p:cNvSpPr>
            <a:spLocks noGrp="1"/>
          </p:cNvSpPr>
          <p:nvPr>
            <p:ph type="chart" sz="quarter" idx="14" hasCustomPrompt="1"/>
          </p:nvPr>
        </p:nvSpPr>
        <p:spPr>
          <a:xfrm>
            <a:off x="719667" y="1484312"/>
            <a:ext cx="10767484" cy="4032251"/>
          </a:xfrm>
        </p:spPr>
        <p:txBody>
          <a:bodyPr rtlCol="0">
            <a:normAutofit/>
          </a:bodyPr>
          <a:lstStyle>
            <a:lvl1pPr>
              <a:buNone/>
              <a:defRPr sz="900"/>
            </a:lvl1pPr>
          </a:lstStyle>
          <a:p>
            <a:pPr lvl="0"/>
            <a:r>
              <a:rPr lang="en-US" noProof="0" dirty="0"/>
              <a:t>Click icon to add chart</a:t>
            </a:r>
            <a:endParaRPr lang="en-GB" noProof="0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719667" y="1484312"/>
            <a:ext cx="10767484" cy="4032251"/>
          </a:xfrm>
        </p:spPr>
        <p:txBody>
          <a:bodyPr rtlCol="0">
            <a:normAutofit/>
          </a:bodyPr>
          <a:lstStyle>
            <a:lvl1pPr>
              <a:buNone/>
              <a:defRPr sz="900"/>
            </a:lvl1pPr>
          </a:lstStyle>
          <a:p>
            <a:pPr lvl="0"/>
            <a:r>
              <a:rPr lang="en-US" noProof="0" dirty="0"/>
              <a:t>Click icon to add picture</a:t>
            </a:r>
            <a:endParaRPr lang="en-GB" noProof="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719667" y="703264"/>
            <a:ext cx="10767484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/>
          <a:lstStyle/>
          <a:p>
            <a:pPr lvl="0"/>
            <a:r>
              <a:rPr lang="en-US" altLang="en-US"/>
              <a:t>Click to edit Master title style</a:t>
            </a:r>
            <a:endParaRPr lang="en-GB" alt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35000" y="1557338"/>
            <a:ext cx="10752667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/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  <a:endParaRPr lang="en-GB" altLang="en-US" dirty="0"/>
          </a:p>
        </p:txBody>
      </p:sp>
      <p:pic>
        <p:nvPicPr>
          <p:cNvPr id="1028" name="Picture 7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8585" y="6131382"/>
            <a:ext cx="3424767" cy="5458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8"/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76518" y="6129795"/>
            <a:ext cx="795150" cy="54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kern="1200">
          <a:solidFill>
            <a:srgbClr val="0098A0"/>
          </a:solidFill>
          <a:latin typeface="Arial" panose="020B0604020202020204" pitchFamily="34" charset="0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200">
          <a:solidFill>
            <a:srgbClr val="0098A0"/>
          </a:solidFill>
          <a:latin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200">
          <a:solidFill>
            <a:srgbClr val="0098A0"/>
          </a:solidFill>
          <a:latin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200">
          <a:solidFill>
            <a:srgbClr val="0098A0"/>
          </a:solidFill>
          <a:latin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200">
          <a:solidFill>
            <a:srgbClr val="0098A0"/>
          </a:solidFill>
          <a:latin typeface="Arial" panose="020B0604020202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200">
          <a:solidFill>
            <a:srgbClr val="0098A0"/>
          </a:solidFill>
          <a:latin typeface="Arial" panose="020B0604020202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200">
          <a:solidFill>
            <a:srgbClr val="0098A0"/>
          </a:solidFill>
          <a:latin typeface="Arial" panose="020B0604020202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200">
          <a:solidFill>
            <a:srgbClr val="0098A0"/>
          </a:solidFill>
          <a:latin typeface="Arial" panose="020B0604020202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200">
          <a:solidFill>
            <a:srgbClr val="0098A0"/>
          </a:solidFill>
          <a:latin typeface="Arial" panose="020B0604020202020204" pitchFamily="34" charset="0"/>
        </a:defRPr>
      </a:lvl9pPr>
    </p:titleStyle>
    <p:bodyStyle>
      <a:lvl1pPr marL="180975" indent="-180975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rgbClr val="6D6E71"/>
          </a:solidFill>
          <a:latin typeface="Arial" panose="020B0604020202020204" pitchFamily="34" charset="0"/>
          <a:ea typeface="+mn-ea"/>
          <a:cs typeface="+mn-cs"/>
        </a:defRPr>
      </a:lvl1pPr>
      <a:lvl2pPr marL="449580" indent="-231775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400" kern="1200">
          <a:solidFill>
            <a:srgbClr val="6D6E71"/>
          </a:solidFill>
          <a:latin typeface="Arial" panose="020B0604020202020204" pitchFamily="34" charset="0"/>
          <a:ea typeface="+mn-ea"/>
          <a:cs typeface="+mn-cs"/>
        </a:defRPr>
      </a:lvl2pPr>
      <a:lvl3pPr marL="624205" indent="-174625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rgbClr val="6D6E71"/>
          </a:solidFill>
          <a:latin typeface="Arial" panose="020B0604020202020204" pitchFamily="34" charset="0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tiff"/><Relationship Id="rId13" Type="http://schemas.openxmlformats.org/officeDocument/2006/relationships/image" Target="../media/image17.png"/><Relationship Id="rId3" Type="http://schemas.openxmlformats.org/officeDocument/2006/relationships/image" Target="../media/image7.jpg"/><Relationship Id="rId7" Type="http://schemas.openxmlformats.org/officeDocument/2006/relationships/image" Target="../media/image11.jpg"/><Relationship Id="rId12" Type="http://schemas.openxmlformats.org/officeDocument/2006/relationships/image" Target="../media/image16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g"/><Relationship Id="rId11" Type="http://schemas.openxmlformats.org/officeDocument/2006/relationships/image" Target="../media/image15.jpg"/><Relationship Id="rId5" Type="http://schemas.openxmlformats.org/officeDocument/2006/relationships/image" Target="../media/image9.jpeg"/><Relationship Id="rId10" Type="http://schemas.openxmlformats.org/officeDocument/2006/relationships/image" Target="../media/image14.jpeg"/><Relationship Id="rId4" Type="http://schemas.openxmlformats.org/officeDocument/2006/relationships/image" Target="../media/image8.PNG"/><Relationship Id="rId9" Type="http://schemas.openxmlformats.org/officeDocument/2006/relationships/image" Target="../media/image13.jpg"/><Relationship Id="rId14" Type="http://schemas.openxmlformats.org/officeDocument/2006/relationships/image" Target="../media/image18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wol-prod-cdn.literatumonline.com/pb-assets/assets/13652133/BJD_call_for_correspondence-1509988728000.pdf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2258" y="985859"/>
            <a:ext cx="10770009" cy="1011383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br>
              <a:rPr lang="en-US" sz="2800" b="1" dirty="0"/>
            </a:br>
            <a:br>
              <a:rPr lang="en-US" sz="2800" b="1" dirty="0"/>
            </a:br>
            <a:r>
              <a:rPr lang="en-US" sz="2800" b="1" dirty="0"/>
              <a:t>The widespread use of topical antimicrobials enriches for resistance in </a:t>
            </a:r>
            <a:r>
              <a:rPr lang="en-US" sz="2800" b="1" i="1" dirty="0"/>
              <a:t>Staphylococcus aureus</a:t>
            </a:r>
            <a:r>
              <a:rPr lang="en-US" sz="2800" b="1" dirty="0"/>
              <a:t> isolated from Atopic Dermatitis patients</a:t>
            </a:r>
            <a:br>
              <a:rPr lang="en-GB" sz="2800" dirty="0"/>
            </a:br>
            <a:endParaRPr lang="en-GB" sz="2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12258" y="2116828"/>
            <a:ext cx="10767484" cy="453043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GB" sz="2000" dirty="0"/>
              <a:t>C.P. Harkins,</a:t>
            </a:r>
            <a:r>
              <a:rPr lang="en-GB" sz="2000" baseline="30000" dirty="0"/>
              <a:t>1,2,3</a:t>
            </a:r>
            <a:r>
              <a:rPr lang="en-GB" sz="2000" dirty="0"/>
              <a:t> M.A. McAleer,</a:t>
            </a:r>
            <a:r>
              <a:rPr lang="en-GB" sz="2000" baseline="30000" dirty="0"/>
              <a:t>4,5,6</a:t>
            </a:r>
            <a:r>
              <a:rPr lang="en-GB" sz="2000" dirty="0"/>
              <a:t> D. Bennett,</a:t>
            </a:r>
            <a:r>
              <a:rPr lang="en-GB" sz="2000" baseline="30000" dirty="0"/>
              <a:t>7</a:t>
            </a:r>
            <a:r>
              <a:rPr lang="en-GB" sz="2000" dirty="0"/>
              <a:t> M. McHugh,</a:t>
            </a:r>
            <a:r>
              <a:rPr lang="en-GB" sz="2000" baseline="30000" dirty="0"/>
              <a:t>1,8</a:t>
            </a:r>
            <a:r>
              <a:rPr lang="en-GB" sz="2000" dirty="0"/>
              <a:t> O.M. Fleury,</a:t>
            </a:r>
            <a:r>
              <a:rPr lang="en-GB" sz="2000" baseline="30000" dirty="0"/>
              <a:t>9</a:t>
            </a:r>
            <a:r>
              <a:rPr lang="en-GB" sz="2000" dirty="0"/>
              <a:t> K.A. Pettigrew,</a:t>
            </a:r>
            <a:r>
              <a:rPr lang="en-GB" sz="2000" baseline="30000" dirty="0"/>
              <a:t>1</a:t>
            </a:r>
            <a:r>
              <a:rPr lang="en-GB" sz="2000" dirty="0"/>
              <a:t> K. Oravcová,</a:t>
            </a:r>
            <a:r>
              <a:rPr lang="en-GB" sz="2000" baseline="30000" dirty="0"/>
              <a:t>1,10</a:t>
            </a:r>
            <a:r>
              <a:rPr lang="en-GB" sz="2000" dirty="0"/>
              <a:t> J. Parkhill,</a:t>
            </a:r>
            <a:r>
              <a:rPr lang="en-GB" sz="2000" baseline="30000" dirty="0"/>
              <a:t>11</a:t>
            </a:r>
            <a:r>
              <a:rPr lang="en-GB" sz="2000" dirty="0"/>
              <a:t> C.M. Proby,</a:t>
            </a:r>
            <a:r>
              <a:rPr lang="en-GB" sz="2000" baseline="30000" dirty="0"/>
              <a:t>2,3</a:t>
            </a:r>
            <a:r>
              <a:rPr lang="en-GB" sz="2000" dirty="0"/>
              <a:t> R.S. Dawe,</a:t>
            </a:r>
            <a:r>
              <a:rPr lang="en-GB" sz="2000" baseline="30000" dirty="0"/>
              <a:t>2,3</a:t>
            </a:r>
            <a:r>
              <a:rPr lang="en-GB" sz="2000" dirty="0"/>
              <a:t> J.A. Geoghegan,</a:t>
            </a:r>
            <a:r>
              <a:rPr lang="en-GB" sz="2000" baseline="30000" dirty="0"/>
              <a:t>9</a:t>
            </a:r>
            <a:r>
              <a:rPr lang="en-GB" sz="2000" dirty="0"/>
              <a:t> A.D. Irvine,</a:t>
            </a:r>
            <a:r>
              <a:rPr lang="en-GB" sz="2000" baseline="30000" dirty="0"/>
              <a:t>4,5,6</a:t>
            </a:r>
            <a:r>
              <a:rPr lang="en-GB" sz="2000" dirty="0"/>
              <a:t> M.T.G.Holden</a:t>
            </a:r>
            <a:r>
              <a:rPr lang="en-GB" sz="2000" baseline="30000" dirty="0"/>
              <a:t>1</a:t>
            </a:r>
            <a:endParaRPr lang="en-GB" sz="2000" dirty="0"/>
          </a:p>
          <a:p>
            <a:r>
              <a:rPr lang="en-GB" sz="2000" dirty="0"/>
              <a:t> </a:t>
            </a:r>
          </a:p>
          <a:p>
            <a:r>
              <a:rPr lang="en-GB" sz="1600" baseline="30000" dirty="0"/>
              <a:t>1 </a:t>
            </a:r>
            <a:r>
              <a:rPr lang="en-GB" sz="1100" dirty="0"/>
              <a:t>School of Medicine, University of St Andrews, St Andrews</a:t>
            </a:r>
          </a:p>
          <a:p>
            <a:r>
              <a:rPr lang="en-GB" sz="1100" baseline="30000" dirty="0"/>
              <a:t>2 </a:t>
            </a:r>
            <a:r>
              <a:rPr lang="en-GB" sz="1100" dirty="0"/>
              <a:t>Department of Dermatology, Ninewells Hospital, Dundee </a:t>
            </a:r>
          </a:p>
          <a:p>
            <a:r>
              <a:rPr lang="en-GB" sz="1100" baseline="30000" dirty="0"/>
              <a:t>3 </a:t>
            </a:r>
            <a:r>
              <a:rPr lang="en-GB" sz="1100" dirty="0"/>
              <a:t>School of Medicine, University of Dundee, Dundee</a:t>
            </a:r>
          </a:p>
          <a:p>
            <a:r>
              <a:rPr lang="en-GB" sz="1100" baseline="30000" dirty="0"/>
              <a:t>4 </a:t>
            </a:r>
            <a:r>
              <a:rPr lang="en-GB" sz="1100" dirty="0"/>
              <a:t>National Children’s Research Centre, Our Lady’s Children’s Hospital, Crumlin, Dublin </a:t>
            </a:r>
          </a:p>
          <a:p>
            <a:r>
              <a:rPr lang="en-GB" sz="1100" baseline="30000" dirty="0"/>
              <a:t>5 </a:t>
            </a:r>
            <a:r>
              <a:rPr lang="en-GB" sz="1100" dirty="0"/>
              <a:t>Clinical Medicine, Trinity College Dublin, Dublin</a:t>
            </a:r>
          </a:p>
          <a:p>
            <a:r>
              <a:rPr lang="en-GB" sz="1100" baseline="30000" dirty="0"/>
              <a:t>6 </a:t>
            </a:r>
            <a:r>
              <a:rPr lang="en-GB" sz="1100" dirty="0"/>
              <a:t>Paediatric Dermatology, Our Lady’s Children’s Hospital, Crumlin, Dublin</a:t>
            </a:r>
          </a:p>
          <a:p>
            <a:r>
              <a:rPr lang="en-GB" sz="1100" baseline="30000" dirty="0"/>
              <a:t>7 </a:t>
            </a:r>
            <a:r>
              <a:rPr lang="en-GB" sz="1100" dirty="0"/>
              <a:t>Irish Meningitis and Sepsis Reference Laboratory (IMSRL), Temple Street Children’s University Hospital, Dublin</a:t>
            </a:r>
          </a:p>
          <a:p>
            <a:r>
              <a:rPr lang="en-GB" sz="1100" baseline="30000" dirty="0"/>
              <a:t>8 </a:t>
            </a:r>
            <a:r>
              <a:rPr lang="en-GB" sz="1100" dirty="0"/>
              <a:t>Department of Medical Microbiology, Royal Infirmary of Edinburgh, Edinburgh</a:t>
            </a:r>
          </a:p>
          <a:p>
            <a:r>
              <a:rPr lang="en-GB" sz="1100" baseline="30000" dirty="0"/>
              <a:t>9 </a:t>
            </a:r>
            <a:r>
              <a:rPr lang="en-GB" sz="1100" dirty="0"/>
              <a:t>Department of Microbiology, Moyne Institute of Preventative Medicine, Trinity College Dublin, Dublin </a:t>
            </a:r>
          </a:p>
          <a:p>
            <a:r>
              <a:rPr lang="en-GB" sz="1100" baseline="30000" dirty="0"/>
              <a:t>10 </a:t>
            </a:r>
            <a:r>
              <a:rPr lang="en-GB" sz="1100" dirty="0"/>
              <a:t>Institute of Biodiversity, Animal Health and Comparative Medicine, University of Glasgow, Glasgow</a:t>
            </a:r>
          </a:p>
          <a:p>
            <a:r>
              <a:rPr lang="en-GB" sz="1100" baseline="30000" dirty="0"/>
              <a:t>11</a:t>
            </a:r>
            <a:r>
              <a:rPr lang="en-GB" sz="1100" dirty="0"/>
              <a:t> The Wellcome Sanger Institute, Wellcome Trust Genome Campus, Hinxton, Cambridge</a:t>
            </a:r>
          </a:p>
          <a:p>
            <a:endParaRPr lang="en-GB" sz="1600" dirty="0"/>
          </a:p>
          <a:p>
            <a:r>
              <a:rPr lang="fi-FI" sz="2000" dirty="0"/>
              <a:t>British Journal of Dermatology. DOI: </a:t>
            </a:r>
            <a:r>
              <a:rPr lang="nl-NL" sz="2000" dirty="0"/>
              <a:t>10.1111/bjd.16722</a:t>
            </a:r>
            <a:endParaRPr lang="en-GB" sz="2000" dirty="0"/>
          </a:p>
          <a:p>
            <a:endParaRPr lang="en-GB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9987" y="682536"/>
            <a:ext cx="3049693" cy="504280"/>
          </a:xfrm>
        </p:spPr>
        <p:txBody>
          <a:bodyPr/>
          <a:lstStyle/>
          <a:p>
            <a:r>
              <a:rPr lang="en-GB" dirty="0"/>
              <a:t>Catriona Harkins </a:t>
            </a:r>
          </a:p>
        </p:txBody>
      </p:sp>
      <p:pic>
        <p:nvPicPr>
          <p:cNvPr id="3" name="Content Placeholder 2" descr="IMG_1994.jpg"/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6057" r="15829" b="19701"/>
          <a:stretch/>
        </p:blipFill>
        <p:spPr>
          <a:xfrm>
            <a:off x="-1310126" y="1494245"/>
            <a:ext cx="4620065" cy="2744530"/>
          </a:xfr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GB" dirty="0"/>
              <a:t>Introduction </a:t>
            </a:r>
            <a:br>
              <a:rPr lang="en-GB" dirty="0"/>
            </a:br>
            <a:r>
              <a:rPr lang="en-GB" sz="2800" dirty="0"/>
              <a:t>What’s already known?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405" y="2313709"/>
            <a:ext cx="10767746" cy="3202854"/>
          </a:xfrm>
        </p:spPr>
        <p:txBody>
          <a:bodyPr/>
          <a:lstStyle/>
          <a:p>
            <a:pPr lvl="0"/>
            <a:r>
              <a:rPr lang="en-GB" sz="2400" i="1" dirty="0"/>
              <a:t>Staphylococcus aureus</a:t>
            </a:r>
            <a:r>
              <a:rPr lang="en-GB" sz="2400" dirty="0"/>
              <a:t> frequently colonises individuals with Atopic dermatitis (AD) with increasing disease severity correlating greater bacterial load of the organism.   </a:t>
            </a:r>
          </a:p>
          <a:p>
            <a:pPr marL="0" lvl="0" indent="0">
              <a:buNone/>
            </a:pPr>
            <a:endParaRPr lang="en-GB" sz="2400" dirty="0"/>
          </a:p>
          <a:p>
            <a:pPr lvl="0"/>
            <a:r>
              <a:rPr lang="en-GB" sz="2400" dirty="0"/>
              <a:t>Antimicrobial therapies are routinely used in AD for management and prevention of disease flares. </a:t>
            </a:r>
          </a:p>
          <a:p>
            <a:endParaRPr lang="en-GB" sz="2400" dirty="0"/>
          </a:p>
          <a:p>
            <a:endParaRPr lang="en-GB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404" y="2133600"/>
            <a:ext cx="10959977" cy="3382963"/>
          </a:xfrm>
        </p:spPr>
        <p:txBody>
          <a:bodyPr/>
          <a:lstStyle/>
          <a:p>
            <a:r>
              <a:rPr lang="en-GB" sz="2400" dirty="0"/>
              <a:t>To determine if antimicrobial sensitivities and genetic determinants of resistance differed in </a:t>
            </a:r>
            <a:r>
              <a:rPr lang="en-GB" sz="2400" i="1" dirty="0"/>
              <a:t>S. aureus</a:t>
            </a:r>
            <a:r>
              <a:rPr lang="en-GB" sz="2400" dirty="0"/>
              <a:t> isolates from the skin of children with AD compared with healthy child nasal carriers. </a:t>
            </a:r>
          </a:p>
          <a:p>
            <a:endParaRPr lang="en-GB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Methods 1: Patients and sampling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719405" y="1484784"/>
            <a:ext cx="10767746" cy="4583774"/>
          </a:xfrm>
        </p:spPr>
        <p:txBody>
          <a:bodyPr/>
          <a:lstStyle/>
          <a:p>
            <a:pPr marL="0" indent="0" algn="ctr">
              <a:buNone/>
            </a:pPr>
            <a:r>
              <a:rPr lang="en-GB" sz="2000" i="1" u="sng" dirty="0"/>
              <a:t>Written informed parental consent obtained for all participants. </a:t>
            </a:r>
          </a:p>
          <a:p>
            <a:pPr marL="0" indent="0">
              <a:buNone/>
            </a:pPr>
            <a:endParaRPr lang="en-GB" sz="2000" u="sng" dirty="0"/>
          </a:p>
          <a:p>
            <a:r>
              <a:rPr lang="en-GB" sz="2400" dirty="0"/>
              <a:t>Case inclusion criteria: 0-7yrs, dermatologist diagnosed moderate to severe AD</a:t>
            </a:r>
          </a:p>
          <a:p>
            <a:r>
              <a:rPr lang="en-GB" sz="2400" dirty="0"/>
              <a:t>Control inclusion criteria: 0 to 7yrs, non-atopic, presentation at A&amp;E with non-infectious illness </a:t>
            </a:r>
          </a:p>
          <a:p>
            <a:r>
              <a:rPr lang="en-GB" sz="2400" dirty="0"/>
              <a:t>Case sampling</a:t>
            </a:r>
            <a:r>
              <a:rPr lang="en-GB" sz="2400" b="1" dirty="0"/>
              <a:t>: </a:t>
            </a:r>
            <a:r>
              <a:rPr lang="en-GB" sz="2400" dirty="0"/>
              <a:t>single skin swab from an inflamed AD site</a:t>
            </a:r>
          </a:p>
          <a:p>
            <a:r>
              <a:rPr lang="en-GB" sz="2400" dirty="0"/>
              <a:t>Control sampling: swab from single nostril</a:t>
            </a:r>
          </a:p>
          <a:p>
            <a:r>
              <a:rPr lang="en-GB" sz="2400" i="1" dirty="0"/>
              <a:t>S. aureus </a:t>
            </a:r>
            <a:r>
              <a:rPr lang="en-GB" sz="2400" dirty="0"/>
              <a:t>isolated from clinical samples</a:t>
            </a:r>
          </a:p>
          <a:p>
            <a:endParaRPr lang="en-GB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404" y="1484784"/>
            <a:ext cx="11015395" cy="4389543"/>
          </a:xfrm>
        </p:spPr>
        <p:txBody>
          <a:bodyPr/>
          <a:lstStyle/>
          <a:p>
            <a:r>
              <a:rPr lang="en-US" sz="2400" dirty="0"/>
              <a:t>Bacterial DNA extracted, DNA libraries prepared and sequenced on Illumina MiSeq</a:t>
            </a:r>
          </a:p>
          <a:p>
            <a:r>
              <a:rPr lang="en-US" sz="2400" dirty="0"/>
              <a:t>Multi-locus sequence types (strain types) were extracted from sequence reads using SRST2 (short sequence read mapping)</a:t>
            </a:r>
          </a:p>
          <a:p>
            <a:r>
              <a:rPr lang="en-US" sz="2400" dirty="0"/>
              <a:t>Maximum likelihood phylogeny was constructed with SNPs in the core conserved genome of the isolates</a:t>
            </a:r>
          </a:p>
          <a:p>
            <a:r>
              <a:rPr lang="en-US" sz="2400" dirty="0"/>
              <a:t>Resistance determinants were identified through SRST2 mapping to a database of known </a:t>
            </a:r>
            <a:r>
              <a:rPr lang="en-US" sz="2400" i="1" dirty="0"/>
              <a:t>S. aureus </a:t>
            </a:r>
            <a:r>
              <a:rPr lang="en-US" sz="2400" dirty="0"/>
              <a:t>resistance genes </a:t>
            </a:r>
          </a:p>
          <a:p>
            <a:r>
              <a:rPr lang="en-US" sz="2400" dirty="0"/>
              <a:t>Chromosomal SNPs conferring resistance were identified by manual inspection of sequence read mapping </a:t>
            </a:r>
          </a:p>
          <a:p>
            <a:endParaRPr lang="en-US" sz="2400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19667" y="706550"/>
            <a:ext cx="10767484" cy="665049"/>
          </a:xfrm>
        </p:spPr>
        <p:txBody>
          <a:bodyPr/>
          <a:lstStyle/>
          <a:p>
            <a:r>
              <a:rPr lang="en-GB" dirty="0"/>
              <a:t>Methods 2: Whole genome sequencing and Bioinformatic analyses </a:t>
            </a:r>
          </a:p>
        </p:txBody>
      </p:sp>
    </p:spTree>
    <p:extLst>
      <p:ext uri="{BB962C8B-B14F-4D97-AF65-F5344CB8AC3E}">
        <p14:creationId xmlns:p14="http://schemas.microsoft.com/office/powerpoint/2010/main" val="4960892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405" y="1898073"/>
            <a:ext cx="10767746" cy="4017818"/>
          </a:xfrm>
        </p:spPr>
        <p:txBody>
          <a:bodyPr/>
          <a:lstStyle/>
          <a:p>
            <a:r>
              <a:rPr lang="en-US" sz="2400" dirty="0"/>
              <a:t>Antimicrobial sensitivity (AMS) testing was performed on VITEK2 automated platform </a:t>
            </a:r>
          </a:p>
          <a:p>
            <a:r>
              <a:rPr lang="en-US" sz="2400" dirty="0"/>
              <a:t>Sensitivities to all major classes of antibiotics were tested (16 individual agents in total)</a:t>
            </a:r>
          </a:p>
          <a:p>
            <a:r>
              <a:rPr lang="en-US" sz="2400" dirty="0"/>
              <a:t>Strains categorised as sensitive (S) or resistant  (R) according to EUCAST breakpoint cut offs</a:t>
            </a:r>
          </a:p>
          <a:p>
            <a:r>
              <a:rPr lang="en-US" sz="2400" dirty="0"/>
              <a:t>Statistical comparisons were made for unpaired proportions using modified Chi2, with 95% CI for observed differences between cases and controls 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19667" y="692696"/>
            <a:ext cx="10767484" cy="789740"/>
          </a:xfrm>
        </p:spPr>
        <p:txBody>
          <a:bodyPr/>
          <a:lstStyle/>
          <a:p>
            <a:r>
              <a:rPr lang="en-GB" dirty="0"/>
              <a:t>Methods 3: Antimicrobial sensitivity testing and statistical analyses </a:t>
            </a:r>
          </a:p>
        </p:txBody>
      </p:sp>
    </p:spTree>
    <p:extLst>
      <p:ext uri="{BB962C8B-B14F-4D97-AF65-F5344CB8AC3E}">
        <p14:creationId xmlns:p14="http://schemas.microsoft.com/office/powerpoint/2010/main" val="7981747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667" y="692695"/>
            <a:ext cx="10767484" cy="665049"/>
          </a:xfrm>
        </p:spPr>
        <p:txBody>
          <a:bodyPr/>
          <a:lstStyle/>
          <a:p>
            <a:r>
              <a:rPr lang="en-GB" dirty="0"/>
              <a:t>Results 1: Genetic backgrounds of </a:t>
            </a:r>
            <a:r>
              <a:rPr lang="en-GB" i="1" dirty="0"/>
              <a:t>S. aureus </a:t>
            </a:r>
            <a:r>
              <a:rPr lang="en-GB" dirty="0"/>
              <a:t>from cases and controls and distribution of resistance phenotypes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719404" y="1911927"/>
            <a:ext cx="10959977" cy="3604636"/>
          </a:xfrm>
        </p:spPr>
        <p:txBody>
          <a:bodyPr/>
          <a:lstStyle/>
          <a:p>
            <a:r>
              <a:rPr lang="en-GB" sz="2400" dirty="0"/>
              <a:t>99 isolates (50 AD cases, 49 NC controls):</a:t>
            </a:r>
          </a:p>
          <a:p>
            <a:pPr lvl="1"/>
            <a:r>
              <a:rPr lang="en-GB" sz="2000" dirty="0"/>
              <a:t>19 STs (sequence types) from 10 CCs (clonal complexes) in AD cases</a:t>
            </a:r>
          </a:p>
          <a:p>
            <a:pPr lvl="1"/>
            <a:r>
              <a:rPr lang="en-GB" sz="2000" dirty="0"/>
              <a:t>16 STs from 9 CCs in NC controls</a:t>
            </a:r>
          </a:p>
          <a:p>
            <a:pPr lvl="1"/>
            <a:r>
              <a:rPr lang="en-GB" sz="2000" dirty="0"/>
              <a:t>Isolates from CC1 single most prevalent in AD (20%)</a:t>
            </a:r>
          </a:p>
          <a:p>
            <a:pPr lvl="1"/>
            <a:r>
              <a:rPr lang="en-GB" sz="2000" dirty="0"/>
              <a:t>CC30 and 45 predominated NC controls (33% and 22%)</a:t>
            </a:r>
          </a:p>
          <a:p>
            <a:pPr marL="0" indent="0">
              <a:buNone/>
            </a:pPr>
            <a:endParaRPr lang="en-GB" sz="2400" dirty="0"/>
          </a:p>
          <a:p>
            <a:r>
              <a:rPr lang="en-GB" sz="2400" dirty="0"/>
              <a:t>Average number of phenotypic resistances per isolate: 1.5 in AD, 1.3 in controls</a:t>
            </a:r>
          </a:p>
          <a:p>
            <a:endParaRPr lang="en-GB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5861111" y="4338440"/>
            <a:ext cx="2240804" cy="2071243"/>
            <a:chOff x="6260367" y="3322370"/>
            <a:chExt cx="2309152" cy="2642502"/>
          </a:xfrm>
        </p:grpSpPr>
        <p:grpSp>
          <p:nvGrpSpPr>
            <p:cNvPr id="3" name="Group 2"/>
            <p:cNvGrpSpPr/>
            <p:nvPr/>
          </p:nvGrpSpPr>
          <p:grpSpPr>
            <a:xfrm>
              <a:off x="6360849" y="3362428"/>
              <a:ext cx="2178714" cy="2584855"/>
              <a:chOff x="6360849" y="3362428"/>
              <a:chExt cx="2178714" cy="2584855"/>
            </a:xfrm>
          </p:grpSpPr>
          <p:grpSp>
            <p:nvGrpSpPr>
              <p:cNvPr id="8" name="Group 7"/>
              <p:cNvGrpSpPr/>
              <p:nvPr/>
            </p:nvGrpSpPr>
            <p:grpSpPr>
              <a:xfrm>
                <a:off x="6578942" y="3362428"/>
                <a:ext cx="1634887" cy="280238"/>
                <a:chOff x="562789" y="6183704"/>
                <a:chExt cx="1634887" cy="280238"/>
              </a:xfrm>
            </p:grpSpPr>
            <p:sp>
              <p:nvSpPr>
                <p:cNvPr id="30" name="Rectangle 29"/>
                <p:cNvSpPr>
                  <a:spLocks/>
                </p:cNvSpPr>
                <p:nvPr/>
              </p:nvSpPr>
              <p:spPr>
                <a:xfrm>
                  <a:off x="562789" y="6307197"/>
                  <a:ext cx="179996" cy="71996"/>
                </a:xfrm>
                <a:prstGeom prst="rect">
                  <a:avLst/>
                </a:prstGeom>
                <a:solidFill>
                  <a:srgbClr val="004080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1" name="Rectangle 30"/>
                <p:cNvSpPr>
                  <a:spLocks/>
                </p:cNvSpPr>
                <p:nvPr/>
              </p:nvSpPr>
              <p:spPr>
                <a:xfrm>
                  <a:off x="1576280" y="6310436"/>
                  <a:ext cx="179996" cy="7199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2" name="TextBox 31"/>
                <p:cNvSpPr txBox="1"/>
                <p:nvPr/>
              </p:nvSpPr>
              <p:spPr>
                <a:xfrm>
                  <a:off x="1718058" y="6186943"/>
                  <a:ext cx="479618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200" b="1" dirty="0"/>
                    <a:t>Case</a:t>
                  </a:r>
                </a:p>
              </p:txBody>
            </p:sp>
            <p:sp>
              <p:nvSpPr>
                <p:cNvPr id="33" name="TextBox 32"/>
                <p:cNvSpPr txBox="1"/>
                <p:nvPr/>
              </p:nvSpPr>
              <p:spPr>
                <a:xfrm>
                  <a:off x="704567" y="6183704"/>
                  <a:ext cx="66000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200" b="1" dirty="0"/>
                    <a:t>Control</a:t>
                  </a:r>
                </a:p>
              </p:txBody>
            </p:sp>
          </p:grpSp>
          <p:grpSp>
            <p:nvGrpSpPr>
              <p:cNvPr id="9" name="Group 8"/>
              <p:cNvGrpSpPr/>
              <p:nvPr/>
            </p:nvGrpSpPr>
            <p:grpSpPr>
              <a:xfrm>
                <a:off x="6360849" y="3726964"/>
                <a:ext cx="2178714" cy="2220319"/>
                <a:chOff x="6493350" y="3839914"/>
                <a:chExt cx="2178714" cy="2220319"/>
              </a:xfrm>
            </p:grpSpPr>
            <p:sp>
              <p:nvSpPr>
                <p:cNvPr id="10" name="TextBox 9"/>
                <p:cNvSpPr txBox="1"/>
                <p:nvPr/>
              </p:nvSpPr>
              <p:spPr>
                <a:xfrm>
                  <a:off x="6660933" y="4275182"/>
                  <a:ext cx="89508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100" b="1" dirty="0"/>
                    <a:t>Tetracycline</a:t>
                  </a:r>
                </a:p>
              </p:txBody>
            </p:sp>
            <p:sp>
              <p:nvSpPr>
                <p:cNvPr id="11" name="Rectangle 10"/>
                <p:cNvSpPr>
                  <a:spLocks/>
                </p:cNvSpPr>
                <p:nvPr/>
              </p:nvSpPr>
              <p:spPr>
                <a:xfrm>
                  <a:off x="6493351" y="4351989"/>
                  <a:ext cx="215998" cy="107996"/>
                </a:xfrm>
                <a:prstGeom prst="rect">
                  <a:avLst/>
                </a:prstGeom>
                <a:solidFill>
                  <a:srgbClr val="003366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2" name="TextBox 11"/>
                <p:cNvSpPr txBox="1"/>
                <p:nvPr/>
              </p:nvSpPr>
              <p:spPr>
                <a:xfrm>
                  <a:off x="6660933" y="3839914"/>
                  <a:ext cx="714415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100" b="1" dirty="0"/>
                    <a:t>Penicillin</a:t>
                  </a:r>
                </a:p>
              </p:txBody>
            </p:sp>
            <p:sp>
              <p:nvSpPr>
                <p:cNvPr id="13" name="Rectangle 12"/>
                <p:cNvSpPr>
                  <a:spLocks/>
                </p:cNvSpPr>
                <p:nvPr/>
              </p:nvSpPr>
              <p:spPr>
                <a:xfrm>
                  <a:off x="6493351" y="3916721"/>
                  <a:ext cx="215997" cy="107996"/>
                </a:xfrm>
                <a:prstGeom prst="rect">
                  <a:avLst/>
                </a:prstGeom>
                <a:solidFill>
                  <a:srgbClr val="3399FF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4" name="TextBox 13"/>
                <p:cNvSpPr txBox="1"/>
                <p:nvPr/>
              </p:nvSpPr>
              <p:spPr>
                <a:xfrm>
                  <a:off x="6660933" y="4057548"/>
                  <a:ext cx="201113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100" b="1" dirty="0"/>
                    <a:t>Erythromycin/ Clindamycin</a:t>
                  </a:r>
                </a:p>
              </p:txBody>
            </p:sp>
            <p:sp>
              <p:nvSpPr>
                <p:cNvPr id="15" name="Rectangle 14"/>
                <p:cNvSpPr>
                  <a:spLocks/>
                </p:cNvSpPr>
                <p:nvPr/>
              </p:nvSpPr>
              <p:spPr>
                <a:xfrm>
                  <a:off x="6493351" y="4134355"/>
                  <a:ext cx="215997" cy="107996"/>
                </a:xfrm>
                <a:prstGeom prst="rect">
                  <a:avLst/>
                </a:prstGeom>
                <a:solidFill>
                  <a:srgbClr val="0066FF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6" name="TextBox 15"/>
                <p:cNvSpPr txBox="1"/>
                <p:nvPr/>
              </p:nvSpPr>
              <p:spPr>
                <a:xfrm>
                  <a:off x="6660933" y="4492816"/>
                  <a:ext cx="143447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100" b="1" dirty="0"/>
                    <a:t>Oxacillin (Methicillin)</a:t>
                  </a:r>
                </a:p>
              </p:txBody>
            </p:sp>
            <p:sp>
              <p:nvSpPr>
                <p:cNvPr id="17" name="Rectangle 16"/>
                <p:cNvSpPr>
                  <a:spLocks/>
                </p:cNvSpPr>
                <p:nvPr/>
              </p:nvSpPr>
              <p:spPr>
                <a:xfrm>
                  <a:off x="6493350" y="4569623"/>
                  <a:ext cx="215998" cy="107996"/>
                </a:xfrm>
                <a:prstGeom prst="rect">
                  <a:avLst/>
                </a:prstGeom>
                <a:solidFill>
                  <a:srgbClr val="FF6600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8" name="TextBox 17"/>
                <p:cNvSpPr txBox="1"/>
                <p:nvPr/>
              </p:nvSpPr>
              <p:spPr>
                <a:xfrm>
                  <a:off x="6660933" y="4710450"/>
                  <a:ext cx="856305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100" b="1" dirty="0"/>
                    <a:t>Fusidic acid </a:t>
                  </a:r>
                </a:p>
              </p:txBody>
            </p:sp>
            <p:sp>
              <p:nvSpPr>
                <p:cNvPr id="19" name="Rectangle 18"/>
                <p:cNvSpPr>
                  <a:spLocks/>
                </p:cNvSpPr>
                <p:nvPr/>
              </p:nvSpPr>
              <p:spPr>
                <a:xfrm>
                  <a:off x="6493351" y="4787257"/>
                  <a:ext cx="215998" cy="107996"/>
                </a:xfrm>
                <a:prstGeom prst="rect">
                  <a:avLst/>
                </a:prstGeom>
                <a:solidFill>
                  <a:srgbClr val="660066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0" name="TextBox 19"/>
                <p:cNvSpPr txBox="1"/>
                <p:nvPr/>
              </p:nvSpPr>
              <p:spPr>
                <a:xfrm>
                  <a:off x="6660933" y="4928084"/>
                  <a:ext cx="1005403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100" b="1" dirty="0"/>
                    <a:t>Trimethoprim</a:t>
                  </a:r>
                </a:p>
              </p:txBody>
            </p:sp>
            <p:sp>
              <p:nvSpPr>
                <p:cNvPr id="21" name="Rectangle 20"/>
                <p:cNvSpPr>
                  <a:spLocks/>
                </p:cNvSpPr>
                <p:nvPr/>
              </p:nvSpPr>
              <p:spPr>
                <a:xfrm>
                  <a:off x="6493350" y="5004891"/>
                  <a:ext cx="215998" cy="107996"/>
                </a:xfrm>
                <a:prstGeom prst="rect">
                  <a:avLst/>
                </a:prstGeom>
                <a:solidFill>
                  <a:srgbClr val="339999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2" name="TextBox 21"/>
                <p:cNvSpPr txBox="1"/>
                <p:nvPr/>
              </p:nvSpPr>
              <p:spPr>
                <a:xfrm>
                  <a:off x="6660933" y="5145718"/>
                  <a:ext cx="1086017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100" b="1" dirty="0"/>
                    <a:t>Ciprofloxacin</a:t>
                  </a:r>
                </a:p>
              </p:txBody>
            </p:sp>
            <p:sp>
              <p:nvSpPr>
                <p:cNvPr id="23" name="Rectangle 22"/>
                <p:cNvSpPr>
                  <a:spLocks/>
                </p:cNvSpPr>
                <p:nvPr/>
              </p:nvSpPr>
              <p:spPr>
                <a:xfrm>
                  <a:off x="6493350" y="5222525"/>
                  <a:ext cx="215998" cy="107996"/>
                </a:xfrm>
                <a:prstGeom prst="rect">
                  <a:avLst/>
                </a:prstGeom>
                <a:solidFill>
                  <a:srgbClr val="FFCC00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4" name="TextBox 23"/>
                <p:cNvSpPr txBox="1"/>
                <p:nvPr/>
              </p:nvSpPr>
              <p:spPr>
                <a:xfrm>
                  <a:off x="6660933" y="5363352"/>
                  <a:ext cx="1932678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100" b="1" dirty="0"/>
                    <a:t>Gentamicin/ Streptomycin </a:t>
                  </a:r>
                </a:p>
              </p:txBody>
            </p:sp>
            <p:sp>
              <p:nvSpPr>
                <p:cNvPr id="25" name="Rectangle 24"/>
                <p:cNvSpPr>
                  <a:spLocks/>
                </p:cNvSpPr>
                <p:nvPr/>
              </p:nvSpPr>
              <p:spPr>
                <a:xfrm>
                  <a:off x="6493350" y="5440159"/>
                  <a:ext cx="215998" cy="107996"/>
                </a:xfrm>
                <a:prstGeom prst="rect">
                  <a:avLst/>
                </a:prstGeom>
                <a:solidFill>
                  <a:srgbClr val="804000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6" name="TextBox 25"/>
                <p:cNvSpPr txBox="1"/>
                <p:nvPr/>
              </p:nvSpPr>
              <p:spPr>
                <a:xfrm>
                  <a:off x="6660933" y="5580986"/>
                  <a:ext cx="829305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100" b="1" dirty="0"/>
                    <a:t>Antiseptics </a:t>
                  </a:r>
                </a:p>
              </p:txBody>
            </p:sp>
            <p:sp>
              <p:nvSpPr>
                <p:cNvPr id="27" name="Rectangle 26"/>
                <p:cNvSpPr>
                  <a:spLocks/>
                </p:cNvSpPr>
                <p:nvPr/>
              </p:nvSpPr>
              <p:spPr>
                <a:xfrm>
                  <a:off x="6493350" y="5657793"/>
                  <a:ext cx="215998" cy="107996"/>
                </a:xfrm>
                <a:prstGeom prst="rect">
                  <a:avLst/>
                </a:prstGeom>
                <a:solidFill>
                  <a:srgbClr val="008040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8" name="Rectangle 27"/>
                <p:cNvSpPr>
                  <a:spLocks/>
                </p:cNvSpPr>
                <p:nvPr/>
              </p:nvSpPr>
              <p:spPr>
                <a:xfrm>
                  <a:off x="6493350" y="5875430"/>
                  <a:ext cx="215998" cy="107996"/>
                </a:xfrm>
                <a:prstGeom prst="rect">
                  <a:avLst/>
                </a:prstGeom>
                <a:solidFill>
                  <a:schemeClr val="bg1"/>
                </a:solidFill>
                <a:ln w="12700" cmpd="sng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9" name="TextBox 28"/>
                <p:cNvSpPr txBox="1"/>
                <p:nvPr/>
              </p:nvSpPr>
              <p:spPr>
                <a:xfrm>
                  <a:off x="6660933" y="5798623"/>
                  <a:ext cx="59773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100" b="1" dirty="0"/>
                    <a:t>Absent </a:t>
                  </a:r>
                </a:p>
              </p:txBody>
            </p:sp>
          </p:grpSp>
        </p:grpSp>
        <p:sp>
          <p:nvSpPr>
            <p:cNvPr id="4" name="Rectangle 3"/>
            <p:cNvSpPr/>
            <p:nvPr/>
          </p:nvSpPr>
          <p:spPr>
            <a:xfrm>
              <a:off x="6260367" y="3322370"/>
              <a:ext cx="2309152" cy="2642502"/>
            </a:xfrm>
            <a:prstGeom prst="rect">
              <a:avLst/>
            </a:prstGeom>
            <a:noFill/>
            <a:ln w="317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2: AMR gene distribution in </a:t>
            </a:r>
            <a:r>
              <a:rPr lang="en-US" i="1" dirty="0"/>
              <a:t>S. aureus </a:t>
            </a:r>
            <a:r>
              <a:rPr lang="en-US" dirty="0"/>
              <a:t>from AD patients</a:t>
            </a:r>
            <a:r>
              <a:rPr lang="en-GB" dirty="0"/>
              <a:t> and NC controls </a:t>
            </a:r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7355" y="377354"/>
            <a:ext cx="5588719" cy="6276109"/>
            <a:chOff x="641170" y="-28649"/>
            <a:chExt cx="5800731" cy="6058136"/>
          </a:xfrm>
        </p:grpSpPr>
        <p:grpSp>
          <p:nvGrpSpPr>
            <p:cNvPr id="34" name="Group 33"/>
            <p:cNvGrpSpPr/>
            <p:nvPr/>
          </p:nvGrpSpPr>
          <p:grpSpPr>
            <a:xfrm>
              <a:off x="641170" y="1611733"/>
              <a:ext cx="2650540" cy="4417754"/>
              <a:chOff x="641170" y="1378453"/>
              <a:chExt cx="2650540" cy="4417754"/>
            </a:xfrm>
          </p:grpSpPr>
          <p:pic>
            <p:nvPicPr>
              <p:cNvPr id="59" name="Picture 58" descr="resistome.pdf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841" t="58691" b="3905"/>
              <a:stretch/>
            </p:blipFill>
            <p:spPr>
              <a:xfrm rot="5400000">
                <a:off x="-285121" y="2304744"/>
                <a:ext cx="4417753" cy="2565172"/>
              </a:xfrm>
              <a:prstGeom prst="rect">
                <a:avLst/>
              </a:prstGeom>
            </p:spPr>
          </p:pic>
          <p:sp>
            <p:nvSpPr>
              <p:cNvPr id="60" name="Rectangle 59"/>
              <p:cNvSpPr/>
              <p:nvPr/>
            </p:nvSpPr>
            <p:spPr>
              <a:xfrm>
                <a:off x="3202022" y="1378453"/>
                <a:ext cx="89688" cy="4417754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FFFFF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5" name="Group 34"/>
            <p:cNvGrpSpPr/>
            <p:nvPr/>
          </p:nvGrpSpPr>
          <p:grpSpPr>
            <a:xfrm>
              <a:off x="3157790" y="1650131"/>
              <a:ext cx="3284111" cy="4379100"/>
              <a:chOff x="4179203" y="1473011"/>
              <a:chExt cx="3284111" cy="4379100"/>
            </a:xfrm>
          </p:grpSpPr>
          <p:pic>
            <p:nvPicPr>
              <p:cNvPr id="57" name="Picture 56" descr="resistome.pdf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9640" t="9555" b="42999"/>
              <a:stretch/>
            </p:blipFill>
            <p:spPr>
              <a:xfrm rot="5400000">
                <a:off x="3646829" y="2035626"/>
                <a:ext cx="4379100" cy="3253870"/>
              </a:xfrm>
              <a:prstGeom prst="rect">
                <a:avLst/>
              </a:prstGeom>
            </p:spPr>
          </p:pic>
          <p:sp>
            <p:nvSpPr>
              <p:cNvPr id="58" name="Rectangle 57"/>
              <p:cNvSpPr/>
              <p:nvPr/>
            </p:nvSpPr>
            <p:spPr>
              <a:xfrm>
                <a:off x="4179203" y="3796980"/>
                <a:ext cx="45719" cy="45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FFFFF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6" name="Group 35"/>
            <p:cNvGrpSpPr/>
            <p:nvPr/>
          </p:nvGrpSpPr>
          <p:grpSpPr>
            <a:xfrm>
              <a:off x="3150656" y="-28649"/>
              <a:ext cx="3275257" cy="1782805"/>
              <a:chOff x="3132650" y="-42804"/>
              <a:chExt cx="3275257" cy="1782805"/>
            </a:xfrm>
          </p:grpSpPr>
          <p:sp>
            <p:nvSpPr>
              <p:cNvPr id="37" name="TextBox 36"/>
              <p:cNvSpPr txBox="1"/>
              <p:nvPr/>
            </p:nvSpPr>
            <p:spPr>
              <a:xfrm rot="16200000">
                <a:off x="2372052" y="717794"/>
                <a:ext cx="1782805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dirty="0"/>
                  <a:t>Case status </a:t>
                </a:r>
              </a:p>
            </p:txBody>
          </p:sp>
          <p:sp>
            <p:nvSpPr>
              <p:cNvPr id="38" name="TextBox 37"/>
              <p:cNvSpPr txBox="1"/>
              <p:nvPr/>
            </p:nvSpPr>
            <p:spPr>
              <a:xfrm rot="16200000">
                <a:off x="2530665" y="717794"/>
                <a:ext cx="1782805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i="1" dirty="0"/>
                  <a:t>blaZ</a:t>
                </a:r>
                <a:r>
                  <a:rPr lang="en-US" sz="1100" dirty="0"/>
                  <a:t> </a:t>
                </a:r>
              </a:p>
            </p:txBody>
          </p:sp>
          <p:sp>
            <p:nvSpPr>
              <p:cNvPr id="39" name="TextBox 38"/>
              <p:cNvSpPr txBox="1"/>
              <p:nvPr/>
            </p:nvSpPr>
            <p:spPr>
              <a:xfrm rot="16200000">
                <a:off x="2689278" y="717794"/>
                <a:ext cx="1782805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i="1" dirty="0"/>
                  <a:t>ermA </a:t>
                </a:r>
              </a:p>
            </p:txBody>
          </p:sp>
          <p:sp>
            <p:nvSpPr>
              <p:cNvPr id="40" name="TextBox 39"/>
              <p:cNvSpPr txBox="1"/>
              <p:nvPr/>
            </p:nvSpPr>
            <p:spPr>
              <a:xfrm rot="16200000">
                <a:off x="2847891" y="717794"/>
                <a:ext cx="1782805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i="1" dirty="0"/>
                  <a:t>ermC </a:t>
                </a:r>
              </a:p>
            </p:txBody>
          </p:sp>
          <p:sp>
            <p:nvSpPr>
              <p:cNvPr id="41" name="TextBox 40"/>
              <p:cNvSpPr txBox="1"/>
              <p:nvPr/>
            </p:nvSpPr>
            <p:spPr>
              <a:xfrm rot="16200000">
                <a:off x="3006504" y="717794"/>
                <a:ext cx="1782805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i="1" dirty="0"/>
                  <a:t>tetK </a:t>
                </a:r>
              </a:p>
            </p:txBody>
          </p:sp>
          <p:sp>
            <p:nvSpPr>
              <p:cNvPr id="42" name="TextBox 41"/>
              <p:cNvSpPr txBox="1"/>
              <p:nvPr/>
            </p:nvSpPr>
            <p:spPr>
              <a:xfrm rot="16200000">
                <a:off x="3165117" y="717794"/>
                <a:ext cx="1782805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i="1" dirty="0"/>
                  <a:t>tetM </a:t>
                </a:r>
              </a:p>
            </p:txBody>
          </p:sp>
          <p:sp>
            <p:nvSpPr>
              <p:cNvPr id="43" name="TextBox 42"/>
              <p:cNvSpPr txBox="1"/>
              <p:nvPr/>
            </p:nvSpPr>
            <p:spPr>
              <a:xfrm rot="16200000">
                <a:off x="3482343" y="717794"/>
                <a:ext cx="1782805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i="1" dirty="0"/>
                  <a:t>fusA</a:t>
                </a:r>
              </a:p>
            </p:txBody>
          </p:sp>
          <p:sp>
            <p:nvSpPr>
              <p:cNvPr id="44" name="TextBox 43"/>
              <p:cNvSpPr txBox="1"/>
              <p:nvPr/>
            </p:nvSpPr>
            <p:spPr>
              <a:xfrm rot="16200000">
                <a:off x="3323730" y="717794"/>
                <a:ext cx="1782805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i="1" dirty="0"/>
                  <a:t>mecA</a:t>
                </a:r>
              </a:p>
            </p:txBody>
          </p:sp>
          <p:sp>
            <p:nvSpPr>
              <p:cNvPr id="45" name="TextBox 44"/>
              <p:cNvSpPr txBox="1"/>
              <p:nvPr/>
            </p:nvSpPr>
            <p:spPr>
              <a:xfrm rot="16200000">
                <a:off x="3640956" y="717794"/>
                <a:ext cx="1782805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i="1" dirty="0"/>
                  <a:t>fusB</a:t>
                </a:r>
              </a:p>
            </p:txBody>
          </p:sp>
          <p:sp>
            <p:nvSpPr>
              <p:cNvPr id="46" name="TextBox 45"/>
              <p:cNvSpPr txBox="1"/>
              <p:nvPr/>
            </p:nvSpPr>
            <p:spPr>
              <a:xfrm rot="16200000">
                <a:off x="3799569" y="717794"/>
                <a:ext cx="1782805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i="1" dirty="0"/>
                  <a:t>fusC</a:t>
                </a:r>
              </a:p>
            </p:txBody>
          </p:sp>
          <p:sp>
            <p:nvSpPr>
              <p:cNvPr id="47" name="TextBox 46"/>
              <p:cNvSpPr txBox="1"/>
              <p:nvPr/>
            </p:nvSpPr>
            <p:spPr>
              <a:xfrm rot="16200000">
                <a:off x="3958182" y="717794"/>
                <a:ext cx="1782805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i="1" dirty="0"/>
                  <a:t>dfrG</a:t>
                </a:r>
              </a:p>
            </p:txBody>
          </p:sp>
          <p:sp>
            <p:nvSpPr>
              <p:cNvPr id="48" name="TextBox 47"/>
              <p:cNvSpPr txBox="1"/>
              <p:nvPr/>
            </p:nvSpPr>
            <p:spPr>
              <a:xfrm rot="16200000">
                <a:off x="4116795" y="717794"/>
                <a:ext cx="1782805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i="1" dirty="0"/>
                  <a:t>gyrA/ grlA</a:t>
                </a:r>
              </a:p>
            </p:txBody>
          </p:sp>
          <p:sp>
            <p:nvSpPr>
              <p:cNvPr id="49" name="TextBox 48"/>
              <p:cNvSpPr txBox="1"/>
              <p:nvPr/>
            </p:nvSpPr>
            <p:spPr>
              <a:xfrm rot="16200000">
                <a:off x="4275408" y="717794"/>
                <a:ext cx="1782805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i="1" dirty="0"/>
                  <a:t>aacA-aphD</a:t>
                </a:r>
              </a:p>
            </p:txBody>
          </p:sp>
          <p:sp>
            <p:nvSpPr>
              <p:cNvPr id="50" name="TextBox 49"/>
              <p:cNvSpPr txBox="1"/>
              <p:nvPr/>
            </p:nvSpPr>
            <p:spPr>
              <a:xfrm rot="16200000">
                <a:off x="4434021" y="717794"/>
                <a:ext cx="1782805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i="1" dirty="0"/>
                  <a:t>AAD9</a:t>
                </a:r>
              </a:p>
            </p:txBody>
          </p:sp>
          <p:sp>
            <p:nvSpPr>
              <p:cNvPr id="51" name="TextBox 50"/>
              <p:cNvSpPr txBox="1"/>
              <p:nvPr/>
            </p:nvSpPr>
            <p:spPr>
              <a:xfrm rot="16200000">
                <a:off x="4592634" y="717794"/>
                <a:ext cx="1782805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i="1" dirty="0"/>
                  <a:t>aadE</a:t>
                </a:r>
              </a:p>
            </p:txBody>
          </p:sp>
          <p:sp>
            <p:nvSpPr>
              <p:cNvPr id="52" name="TextBox 51"/>
              <p:cNvSpPr txBox="1"/>
              <p:nvPr/>
            </p:nvSpPr>
            <p:spPr>
              <a:xfrm rot="16200000">
                <a:off x="4751247" y="717794"/>
                <a:ext cx="1782805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i="1" dirty="0"/>
                  <a:t>aphA-3</a:t>
                </a:r>
              </a:p>
            </p:txBody>
          </p:sp>
          <p:sp>
            <p:nvSpPr>
              <p:cNvPr id="53" name="TextBox 52"/>
              <p:cNvSpPr txBox="1"/>
              <p:nvPr/>
            </p:nvSpPr>
            <p:spPr>
              <a:xfrm rot="16200000">
                <a:off x="4909860" y="717794"/>
                <a:ext cx="1782805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i="1" dirty="0"/>
                  <a:t>qacA</a:t>
                </a:r>
              </a:p>
            </p:txBody>
          </p:sp>
          <p:sp>
            <p:nvSpPr>
              <p:cNvPr id="54" name="TextBox 53"/>
              <p:cNvSpPr txBox="1"/>
              <p:nvPr/>
            </p:nvSpPr>
            <p:spPr>
              <a:xfrm rot="16200000">
                <a:off x="5068473" y="717794"/>
                <a:ext cx="1782805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i="1" dirty="0"/>
                  <a:t>qacC</a:t>
                </a:r>
              </a:p>
            </p:txBody>
          </p:sp>
          <p:sp>
            <p:nvSpPr>
              <p:cNvPr id="55" name="TextBox 54"/>
              <p:cNvSpPr txBox="1"/>
              <p:nvPr/>
            </p:nvSpPr>
            <p:spPr>
              <a:xfrm rot="16200000">
                <a:off x="5227086" y="717794"/>
                <a:ext cx="1782805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i="1" dirty="0"/>
                  <a:t>qacG</a:t>
                </a:r>
              </a:p>
            </p:txBody>
          </p:sp>
          <p:sp>
            <p:nvSpPr>
              <p:cNvPr id="56" name="TextBox 55"/>
              <p:cNvSpPr txBox="1"/>
              <p:nvPr/>
            </p:nvSpPr>
            <p:spPr>
              <a:xfrm rot="16200000">
                <a:off x="5385699" y="717794"/>
                <a:ext cx="1782805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i="1" dirty="0"/>
                  <a:t>qacJ</a:t>
                </a:r>
              </a:p>
            </p:txBody>
          </p:sp>
        </p:grpSp>
      </p:grpSp>
      <p:sp>
        <p:nvSpPr>
          <p:cNvPr id="61" name="TextBox 60"/>
          <p:cNvSpPr txBox="1"/>
          <p:nvPr/>
        </p:nvSpPr>
        <p:spPr>
          <a:xfrm>
            <a:off x="8646532" y="1775340"/>
            <a:ext cx="3129832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Penicillin resistance is widely distributed throughout </a:t>
            </a:r>
            <a:r>
              <a:rPr lang="en-US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S. aureus 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population generally</a:t>
            </a:r>
          </a:p>
          <a:p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Low prevalence of MRSA generally in both populations </a:t>
            </a:r>
          </a:p>
          <a:p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Fusidic acid resistance determinants and </a:t>
            </a:r>
            <a:r>
              <a:rPr lang="en-US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qac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gene carriage differentiate cases and controls 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5847198" y="2398376"/>
            <a:ext cx="2840978" cy="1657820"/>
            <a:chOff x="6187430" y="2398376"/>
            <a:chExt cx="2042850" cy="1657820"/>
          </a:xfrm>
        </p:grpSpPr>
        <p:sp>
          <p:nvSpPr>
            <p:cNvPr id="87" name="Rectangle 86"/>
            <p:cNvSpPr/>
            <p:nvPr/>
          </p:nvSpPr>
          <p:spPr>
            <a:xfrm>
              <a:off x="6187430" y="3317532"/>
              <a:ext cx="2012905" cy="738664"/>
            </a:xfrm>
            <a:prstGeom prst="rect">
              <a:avLst/>
            </a:prstGeom>
            <a:ln w="19050" cmpd="sng">
              <a:solidFill>
                <a:srgbClr val="400080"/>
              </a:solidFill>
              <a:prstDash val="sysDash"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GB" sz="1400" b="1" dirty="0">
                  <a:solidFill>
                    <a:srgbClr val="400080"/>
                  </a:solidFill>
                </a:rPr>
                <a:t>Fusidic acid</a:t>
              </a:r>
              <a:r>
                <a:rPr lang="en-GB" sz="1400" b="1" dirty="0">
                  <a:solidFill>
                    <a:srgbClr val="660066"/>
                  </a:solidFill>
                </a:rPr>
                <a:t> </a:t>
              </a:r>
            </a:p>
            <a:p>
              <a:pPr algn="ctr"/>
              <a:r>
                <a:rPr lang="en-GB" sz="1400" dirty="0">
                  <a:solidFill>
                    <a:srgbClr val="595959"/>
                  </a:solidFill>
                </a:rPr>
                <a:t>(95% CI for difference 6% to 41%, p=0.009) </a:t>
              </a:r>
              <a:endParaRPr lang="en-US" sz="1400" dirty="0">
                <a:solidFill>
                  <a:srgbClr val="595959"/>
                </a:solidFill>
              </a:endParaRPr>
            </a:p>
          </p:txBody>
        </p:sp>
        <p:sp>
          <p:nvSpPr>
            <p:cNvPr id="88" name="Rectangle 87"/>
            <p:cNvSpPr/>
            <p:nvPr/>
          </p:nvSpPr>
          <p:spPr>
            <a:xfrm>
              <a:off x="6208134" y="2398376"/>
              <a:ext cx="2022146" cy="738664"/>
            </a:xfrm>
            <a:prstGeom prst="rect">
              <a:avLst/>
            </a:prstGeom>
            <a:ln w="19050" cmpd="sng">
              <a:solidFill>
                <a:srgbClr val="008000"/>
              </a:solidFill>
              <a:prstDash val="sysDash"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GB" sz="1400" b="1" dirty="0">
                  <a:solidFill>
                    <a:srgbClr val="595959"/>
                  </a:solidFill>
                </a:rPr>
                <a:t>Antiseptics</a:t>
              </a:r>
            </a:p>
            <a:p>
              <a:pPr algn="ctr"/>
              <a:r>
                <a:rPr lang="en-GB" sz="1400" dirty="0"/>
                <a:t>(95% CI for difference 3% to 25%, p=0.016) </a:t>
              </a:r>
              <a:endParaRPr 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4134575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3: Fusidic acid resistance arises through distinct mechanisms in AD patients</a:t>
            </a:r>
          </a:p>
        </p:txBody>
      </p:sp>
      <p:pic>
        <p:nvPicPr>
          <p:cNvPr id="5" name="Picture 4" descr="bob2.pdf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52" r="-2185" b="4714"/>
          <a:stretch/>
        </p:blipFill>
        <p:spPr>
          <a:xfrm rot="16200000">
            <a:off x="542852" y="1513754"/>
            <a:ext cx="5132083" cy="5184000"/>
          </a:xfrm>
          <a:prstGeom prst="rect">
            <a:avLst/>
          </a:prstGeom>
        </p:spPr>
      </p:pic>
      <p:grpSp>
        <p:nvGrpSpPr>
          <p:cNvPr id="46" name="Group 45"/>
          <p:cNvGrpSpPr/>
          <p:nvPr/>
        </p:nvGrpSpPr>
        <p:grpSpPr>
          <a:xfrm>
            <a:off x="5628022" y="4691230"/>
            <a:ext cx="2267336" cy="1929032"/>
            <a:chOff x="5904313" y="4378514"/>
            <a:chExt cx="2392596" cy="1849583"/>
          </a:xfrm>
        </p:grpSpPr>
        <p:grpSp>
          <p:nvGrpSpPr>
            <p:cNvPr id="3" name="Group 2"/>
            <p:cNvGrpSpPr/>
            <p:nvPr/>
          </p:nvGrpSpPr>
          <p:grpSpPr>
            <a:xfrm>
              <a:off x="5956428" y="4423791"/>
              <a:ext cx="2340481" cy="1696640"/>
              <a:chOff x="5956428" y="4423791"/>
              <a:chExt cx="2340481" cy="1696640"/>
            </a:xfrm>
          </p:grpSpPr>
          <p:grpSp>
            <p:nvGrpSpPr>
              <p:cNvPr id="6" name="Group 5"/>
              <p:cNvGrpSpPr/>
              <p:nvPr/>
            </p:nvGrpSpPr>
            <p:grpSpPr>
              <a:xfrm>
                <a:off x="6011169" y="4707035"/>
                <a:ext cx="2054386" cy="1413396"/>
                <a:chOff x="79519" y="4727519"/>
                <a:chExt cx="2054386" cy="1413396"/>
              </a:xfrm>
            </p:grpSpPr>
            <p:grpSp>
              <p:nvGrpSpPr>
                <p:cNvPr id="12" name="Group 11"/>
                <p:cNvGrpSpPr/>
                <p:nvPr/>
              </p:nvGrpSpPr>
              <p:grpSpPr>
                <a:xfrm>
                  <a:off x="79519" y="4727519"/>
                  <a:ext cx="874051" cy="1413396"/>
                  <a:chOff x="114394" y="3468045"/>
                  <a:chExt cx="874051" cy="1413396"/>
                </a:xfrm>
              </p:grpSpPr>
              <p:grpSp>
                <p:nvGrpSpPr>
                  <p:cNvPr id="30" name="Group 29"/>
                  <p:cNvGrpSpPr/>
                  <p:nvPr/>
                </p:nvGrpSpPr>
                <p:grpSpPr>
                  <a:xfrm>
                    <a:off x="114394" y="3558990"/>
                    <a:ext cx="215999" cy="1257918"/>
                    <a:chOff x="114394" y="3558990"/>
                    <a:chExt cx="215999" cy="1257918"/>
                  </a:xfrm>
                </p:grpSpPr>
                <p:sp>
                  <p:nvSpPr>
                    <p:cNvPr id="39" name="Rectangle 38"/>
                    <p:cNvSpPr/>
                    <p:nvPr/>
                  </p:nvSpPr>
                  <p:spPr>
                    <a:xfrm>
                      <a:off x="114394" y="3750643"/>
                      <a:ext cx="215999" cy="108000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rgbClr val="FF0000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40" name="Rectangle 39"/>
                    <p:cNvSpPr/>
                    <p:nvPr/>
                  </p:nvSpPr>
                  <p:spPr>
                    <a:xfrm>
                      <a:off x="114394" y="3558990"/>
                      <a:ext cx="215999" cy="108000"/>
                    </a:xfrm>
                    <a:prstGeom prst="rect">
                      <a:avLst/>
                    </a:prstGeom>
                    <a:solidFill>
                      <a:srgbClr val="FF8000"/>
                    </a:solidFill>
                    <a:ln>
                      <a:solidFill>
                        <a:srgbClr val="FF8000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41" name="Rectangle 40"/>
                    <p:cNvSpPr/>
                    <p:nvPr/>
                  </p:nvSpPr>
                  <p:spPr>
                    <a:xfrm>
                      <a:off x="114394" y="3942296"/>
                      <a:ext cx="215999" cy="108000"/>
                    </a:xfrm>
                    <a:prstGeom prst="rect">
                      <a:avLst/>
                    </a:prstGeom>
                    <a:solidFill>
                      <a:srgbClr val="0080FF"/>
                    </a:solidFill>
                    <a:ln>
                      <a:solidFill>
                        <a:srgbClr val="0080FF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42" name="Rectangle 41"/>
                    <p:cNvSpPr/>
                    <p:nvPr/>
                  </p:nvSpPr>
                  <p:spPr>
                    <a:xfrm>
                      <a:off x="114394" y="4133949"/>
                      <a:ext cx="215999" cy="108000"/>
                    </a:xfrm>
                    <a:prstGeom prst="rect">
                      <a:avLst/>
                    </a:prstGeom>
                    <a:solidFill>
                      <a:srgbClr val="004080"/>
                    </a:solidFill>
                    <a:ln>
                      <a:solidFill>
                        <a:srgbClr val="004080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43" name="Rectangle 42"/>
                    <p:cNvSpPr/>
                    <p:nvPr/>
                  </p:nvSpPr>
                  <p:spPr>
                    <a:xfrm>
                      <a:off x="114394" y="4325602"/>
                      <a:ext cx="215999" cy="108000"/>
                    </a:xfrm>
                    <a:prstGeom prst="rect">
                      <a:avLst/>
                    </a:prstGeom>
                    <a:solidFill>
                      <a:srgbClr val="66CCFF"/>
                    </a:solidFill>
                    <a:ln>
                      <a:solidFill>
                        <a:srgbClr val="66CCFF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44" name="Rectangle 43"/>
                    <p:cNvSpPr/>
                    <p:nvPr/>
                  </p:nvSpPr>
                  <p:spPr>
                    <a:xfrm>
                      <a:off x="114394" y="4517255"/>
                      <a:ext cx="215999" cy="108000"/>
                    </a:xfrm>
                    <a:prstGeom prst="rect">
                      <a:avLst/>
                    </a:prstGeom>
                    <a:solidFill>
                      <a:srgbClr val="6666FF"/>
                    </a:solidFill>
                    <a:ln>
                      <a:solidFill>
                        <a:srgbClr val="6666FF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45" name="Rectangle 44"/>
                    <p:cNvSpPr/>
                    <p:nvPr/>
                  </p:nvSpPr>
                  <p:spPr>
                    <a:xfrm>
                      <a:off x="114394" y="4708908"/>
                      <a:ext cx="215999" cy="108000"/>
                    </a:xfrm>
                    <a:prstGeom prst="rect">
                      <a:avLst/>
                    </a:prstGeom>
                    <a:solidFill>
                      <a:srgbClr val="800080"/>
                    </a:solidFill>
                    <a:ln>
                      <a:solidFill>
                        <a:srgbClr val="800080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</p:grpSp>
              <p:grpSp>
                <p:nvGrpSpPr>
                  <p:cNvPr id="31" name="Group 30"/>
                  <p:cNvGrpSpPr/>
                  <p:nvPr/>
                </p:nvGrpSpPr>
                <p:grpSpPr>
                  <a:xfrm>
                    <a:off x="266062" y="3468045"/>
                    <a:ext cx="722383" cy="1413396"/>
                    <a:chOff x="266062" y="3443622"/>
                    <a:chExt cx="722383" cy="1413396"/>
                  </a:xfrm>
                </p:grpSpPr>
                <p:sp>
                  <p:nvSpPr>
                    <p:cNvPr id="32" name="TextBox 31"/>
                    <p:cNvSpPr txBox="1"/>
                    <p:nvPr/>
                  </p:nvSpPr>
                  <p:spPr>
                    <a:xfrm>
                      <a:off x="266062" y="3637258"/>
                      <a:ext cx="722383" cy="2616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1100" b="1" dirty="0"/>
                        <a:t>CC1</a:t>
                      </a:r>
                    </a:p>
                  </p:txBody>
                </p:sp>
                <p:sp>
                  <p:nvSpPr>
                    <p:cNvPr id="33" name="TextBox 32"/>
                    <p:cNvSpPr txBox="1"/>
                    <p:nvPr/>
                  </p:nvSpPr>
                  <p:spPr>
                    <a:xfrm>
                      <a:off x="266062" y="3443622"/>
                      <a:ext cx="722383" cy="2616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1100" b="1" dirty="0"/>
                        <a:t>CC5</a:t>
                      </a:r>
                    </a:p>
                  </p:txBody>
                </p:sp>
                <p:sp>
                  <p:nvSpPr>
                    <p:cNvPr id="34" name="TextBox 33"/>
                    <p:cNvSpPr txBox="1"/>
                    <p:nvPr/>
                  </p:nvSpPr>
                  <p:spPr>
                    <a:xfrm>
                      <a:off x="266062" y="3829523"/>
                      <a:ext cx="722383" cy="2616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1100" b="1" dirty="0"/>
                        <a:t>CC15</a:t>
                      </a:r>
                    </a:p>
                  </p:txBody>
                </p:sp>
                <p:sp>
                  <p:nvSpPr>
                    <p:cNvPr id="35" name="TextBox 34"/>
                    <p:cNvSpPr txBox="1"/>
                    <p:nvPr/>
                  </p:nvSpPr>
                  <p:spPr>
                    <a:xfrm>
                      <a:off x="266062" y="4015438"/>
                      <a:ext cx="722383" cy="2616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1100" b="1" dirty="0"/>
                        <a:t>CC8</a:t>
                      </a:r>
                    </a:p>
                  </p:txBody>
                </p:sp>
                <p:sp>
                  <p:nvSpPr>
                    <p:cNvPr id="36" name="TextBox 35"/>
                    <p:cNvSpPr txBox="1"/>
                    <p:nvPr/>
                  </p:nvSpPr>
                  <p:spPr>
                    <a:xfrm>
                      <a:off x="266062" y="4207703"/>
                      <a:ext cx="722383" cy="2616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1100" b="1" dirty="0"/>
                        <a:t>CC25</a:t>
                      </a:r>
                    </a:p>
                  </p:txBody>
                </p:sp>
                <p:sp>
                  <p:nvSpPr>
                    <p:cNvPr id="37" name="TextBox 36"/>
                    <p:cNvSpPr txBox="1"/>
                    <p:nvPr/>
                  </p:nvSpPr>
                  <p:spPr>
                    <a:xfrm>
                      <a:off x="266062" y="4396793"/>
                      <a:ext cx="722383" cy="2616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1100" b="1" dirty="0"/>
                        <a:t>CC121</a:t>
                      </a:r>
                    </a:p>
                  </p:txBody>
                </p:sp>
                <p:sp>
                  <p:nvSpPr>
                    <p:cNvPr id="38" name="TextBox 37"/>
                    <p:cNvSpPr txBox="1"/>
                    <p:nvPr/>
                  </p:nvSpPr>
                  <p:spPr>
                    <a:xfrm>
                      <a:off x="266062" y="4595408"/>
                      <a:ext cx="722383" cy="2616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1100" b="1" dirty="0"/>
                        <a:t>CC59</a:t>
                      </a:r>
                    </a:p>
                  </p:txBody>
                </p:sp>
              </p:grpSp>
            </p:grpSp>
            <p:grpSp>
              <p:nvGrpSpPr>
                <p:cNvPr id="13" name="Group 12"/>
                <p:cNvGrpSpPr/>
                <p:nvPr/>
              </p:nvGrpSpPr>
              <p:grpSpPr>
                <a:xfrm>
                  <a:off x="813690" y="4727519"/>
                  <a:ext cx="1320215" cy="1412028"/>
                  <a:chOff x="173194" y="4804440"/>
                  <a:chExt cx="1320215" cy="1412028"/>
                </a:xfrm>
              </p:grpSpPr>
              <p:grpSp>
                <p:nvGrpSpPr>
                  <p:cNvPr id="14" name="Group 13"/>
                  <p:cNvGrpSpPr/>
                  <p:nvPr/>
                </p:nvGrpSpPr>
                <p:grpSpPr>
                  <a:xfrm>
                    <a:off x="173194" y="4900561"/>
                    <a:ext cx="215999" cy="1257919"/>
                    <a:chOff x="173194" y="4900561"/>
                    <a:chExt cx="215999" cy="1257919"/>
                  </a:xfrm>
                </p:grpSpPr>
                <p:sp>
                  <p:nvSpPr>
                    <p:cNvPr id="23" name="Rectangle 22"/>
                    <p:cNvSpPr/>
                    <p:nvPr/>
                  </p:nvSpPr>
                  <p:spPr>
                    <a:xfrm>
                      <a:off x="173194" y="5092214"/>
                      <a:ext cx="215999" cy="108000"/>
                    </a:xfrm>
                    <a:prstGeom prst="rect">
                      <a:avLst/>
                    </a:prstGeom>
                    <a:solidFill>
                      <a:srgbClr val="0000FF"/>
                    </a:solidFill>
                    <a:ln>
                      <a:solidFill>
                        <a:srgbClr val="0000FF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24" name="Rectangle 23"/>
                    <p:cNvSpPr/>
                    <p:nvPr/>
                  </p:nvSpPr>
                  <p:spPr>
                    <a:xfrm>
                      <a:off x="173194" y="4900561"/>
                      <a:ext cx="215999" cy="108000"/>
                    </a:xfrm>
                    <a:prstGeom prst="rect">
                      <a:avLst/>
                    </a:prstGeom>
                    <a:solidFill>
                      <a:srgbClr val="008040"/>
                    </a:solidFill>
                    <a:ln>
                      <a:solidFill>
                        <a:srgbClr val="008040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25" name="Rectangle 24"/>
                    <p:cNvSpPr/>
                    <p:nvPr/>
                  </p:nvSpPr>
                  <p:spPr>
                    <a:xfrm>
                      <a:off x="173194" y="5283867"/>
                      <a:ext cx="215999" cy="108000"/>
                    </a:xfrm>
                    <a:prstGeom prst="rect">
                      <a:avLst/>
                    </a:prstGeom>
                    <a:solidFill>
                      <a:srgbClr val="400080"/>
                    </a:solidFill>
                    <a:ln>
                      <a:solidFill>
                        <a:srgbClr val="400080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26" name="Rectangle 25"/>
                    <p:cNvSpPr/>
                    <p:nvPr/>
                  </p:nvSpPr>
                  <p:spPr>
                    <a:xfrm>
                      <a:off x="173194" y="5475520"/>
                      <a:ext cx="215999" cy="108000"/>
                    </a:xfrm>
                    <a:prstGeom prst="rect">
                      <a:avLst/>
                    </a:prstGeom>
                    <a:solidFill>
                      <a:srgbClr val="999999"/>
                    </a:solidFill>
                    <a:ln>
                      <a:solidFill>
                        <a:srgbClr val="999999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27" name="Rectangle 26"/>
                    <p:cNvSpPr/>
                    <p:nvPr/>
                  </p:nvSpPr>
                  <p:spPr>
                    <a:xfrm>
                      <a:off x="173194" y="5667173"/>
                      <a:ext cx="215999" cy="108000"/>
                    </a:xfrm>
                    <a:prstGeom prst="rect">
                      <a:avLst/>
                    </a:prstGeom>
                    <a:solidFill>
                      <a:srgbClr val="008080"/>
                    </a:solidFill>
                    <a:ln>
                      <a:solidFill>
                        <a:srgbClr val="008080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28" name="Rectangle 27"/>
                    <p:cNvSpPr/>
                    <p:nvPr/>
                  </p:nvSpPr>
                  <p:spPr>
                    <a:xfrm>
                      <a:off x="173194" y="5858826"/>
                      <a:ext cx="215999" cy="108000"/>
                    </a:xfrm>
                    <a:prstGeom prst="rect">
                      <a:avLst/>
                    </a:prstGeom>
                    <a:solidFill>
                      <a:srgbClr val="804000"/>
                    </a:solidFill>
                    <a:ln>
                      <a:solidFill>
                        <a:srgbClr val="804000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29" name="Rectangle 28"/>
                    <p:cNvSpPr/>
                    <p:nvPr/>
                  </p:nvSpPr>
                  <p:spPr>
                    <a:xfrm>
                      <a:off x="173194" y="6050480"/>
                      <a:ext cx="215999" cy="108000"/>
                    </a:xfrm>
                    <a:prstGeom prst="rect">
                      <a:avLst/>
                    </a:prstGeom>
                    <a:solidFill>
                      <a:srgbClr val="808000"/>
                    </a:solidFill>
                    <a:ln>
                      <a:solidFill>
                        <a:srgbClr val="808000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</p:grpSp>
              <p:grpSp>
                <p:nvGrpSpPr>
                  <p:cNvPr id="15" name="Group 14"/>
                  <p:cNvGrpSpPr/>
                  <p:nvPr/>
                </p:nvGrpSpPr>
                <p:grpSpPr>
                  <a:xfrm>
                    <a:off x="324862" y="4804440"/>
                    <a:ext cx="1168547" cy="1412028"/>
                    <a:chOff x="324862" y="4784498"/>
                    <a:chExt cx="1168547" cy="1412028"/>
                  </a:xfrm>
                </p:grpSpPr>
                <p:sp>
                  <p:nvSpPr>
                    <p:cNvPr id="16" name="TextBox 15"/>
                    <p:cNvSpPr txBox="1"/>
                    <p:nvPr/>
                  </p:nvSpPr>
                  <p:spPr>
                    <a:xfrm>
                      <a:off x="324862" y="4976763"/>
                      <a:ext cx="722383" cy="2616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1100" b="1" dirty="0"/>
                        <a:t>CC30</a:t>
                      </a:r>
                    </a:p>
                  </p:txBody>
                </p:sp>
                <p:sp>
                  <p:nvSpPr>
                    <p:cNvPr id="17" name="TextBox 16"/>
                    <p:cNvSpPr txBox="1"/>
                    <p:nvPr/>
                  </p:nvSpPr>
                  <p:spPr>
                    <a:xfrm>
                      <a:off x="324862" y="4784498"/>
                      <a:ext cx="722383" cy="2616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1100" b="1" dirty="0"/>
                        <a:t>CC45</a:t>
                      </a:r>
                    </a:p>
                  </p:txBody>
                </p:sp>
                <p:sp>
                  <p:nvSpPr>
                    <p:cNvPr id="18" name="TextBox 17"/>
                    <p:cNvSpPr txBox="1"/>
                    <p:nvPr/>
                  </p:nvSpPr>
                  <p:spPr>
                    <a:xfrm>
                      <a:off x="324862" y="5169028"/>
                      <a:ext cx="722383" cy="2616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1100" b="1" dirty="0"/>
                        <a:t>CC22</a:t>
                      </a:r>
                    </a:p>
                  </p:txBody>
                </p:sp>
                <p:sp>
                  <p:nvSpPr>
                    <p:cNvPr id="19" name="TextBox 18"/>
                    <p:cNvSpPr txBox="1"/>
                    <p:nvPr/>
                  </p:nvSpPr>
                  <p:spPr>
                    <a:xfrm>
                      <a:off x="324862" y="5361293"/>
                      <a:ext cx="1168547" cy="2616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1100" b="1" dirty="0"/>
                        <a:t>Singletons</a:t>
                      </a:r>
                    </a:p>
                  </p:txBody>
                </p:sp>
                <p:sp>
                  <p:nvSpPr>
                    <p:cNvPr id="20" name="TextBox 19"/>
                    <p:cNvSpPr txBox="1"/>
                    <p:nvPr/>
                  </p:nvSpPr>
                  <p:spPr>
                    <a:xfrm>
                      <a:off x="324862" y="5550383"/>
                      <a:ext cx="1168547" cy="2616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1100" b="1" dirty="0"/>
                        <a:t>CC7</a:t>
                      </a:r>
                    </a:p>
                  </p:txBody>
                </p:sp>
                <p:sp>
                  <p:nvSpPr>
                    <p:cNvPr id="21" name="TextBox 20"/>
                    <p:cNvSpPr txBox="1"/>
                    <p:nvPr/>
                  </p:nvSpPr>
                  <p:spPr>
                    <a:xfrm>
                      <a:off x="324862" y="5934916"/>
                      <a:ext cx="1168547" cy="2616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1100" b="1" dirty="0"/>
                        <a:t>CC9</a:t>
                      </a:r>
                    </a:p>
                  </p:txBody>
                </p:sp>
                <p:sp>
                  <p:nvSpPr>
                    <p:cNvPr id="22" name="TextBox 21"/>
                    <p:cNvSpPr txBox="1"/>
                    <p:nvPr/>
                  </p:nvSpPr>
                  <p:spPr>
                    <a:xfrm>
                      <a:off x="324862" y="5742648"/>
                      <a:ext cx="1168547" cy="2616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1100" b="1" dirty="0"/>
                        <a:t>CC5 (ST6)</a:t>
                      </a:r>
                    </a:p>
                  </p:txBody>
                </p:sp>
              </p:grpSp>
            </p:grpSp>
          </p:grpSp>
          <p:grpSp>
            <p:nvGrpSpPr>
              <p:cNvPr id="7" name="Group 6"/>
              <p:cNvGrpSpPr/>
              <p:nvPr/>
            </p:nvGrpSpPr>
            <p:grpSpPr>
              <a:xfrm>
                <a:off x="5956428" y="4423791"/>
                <a:ext cx="2340481" cy="293813"/>
                <a:chOff x="6992079" y="4659421"/>
                <a:chExt cx="2340481" cy="293813"/>
              </a:xfrm>
            </p:grpSpPr>
            <p:sp>
              <p:nvSpPr>
                <p:cNvPr id="8" name="TextBox 7"/>
                <p:cNvSpPr txBox="1"/>
                <p:nvPr/>
              </p:nvSpPr>
              <p:spPr>
                <a:xfrm>
                  <a:off x="7971120" y="4676235"/>
                  <a:ext cx="1361440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b="1" dirty="0"/>
                    <a:t>Case</a:t>
                  </a:r>
                </a:p>
              </p:txBody>
            </p:sp>
            <p:sp>
              <p:nvSpPr>
                <p:cNvPr id="9" name="TextBox 8"/>
                <p:cNvSpPr txBox="1"/>
                <p:nvPr/>
              </p:nvSpPr>
              <p:spPr>
                <a:xfrm>
                  <a:off x="7128122" y="4659421"/>
                  <a:ext cx="1361440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b="1" dirty="0"/>
                    <a:t>Control</a:t>
                  </a:r>
                </a:p>
              </p:txBody>
            </p:sp>
            <p:sp>
              <p:nvSpPr>
                <p:cNvPr id="10" name="Oval 9"/>
                <p:cNvSpPr>
                  <a:spLocks noChangeAspect="1"/>
                </p:cNvSpPr>
                <p:nvPr/>
              </p:nvSpPr>
              <p:spPr>
                <a:xfrm>
                  <a:off x="7835077" y="4742736"/>
                  <a:ext cx="143996" cy="143996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 dirty="0"/>
                </a:p>
              </p:txBody>
            </p:sp>
            <p:sp>
              <p:nvSpPr>
                <p:cNvPr id="11" name="Oval 10"/>
                <p:cNvSpPr>
                  <a:spLocks noChangeAspect="1"/>
                </p:cNvSpPr>
                <p:nvPr/>
              </p:nvSpPr>
              <p:spPr>
                <a:xfrm>
                  <a:off x="6992079" y="4738251"/>
                  <a:ext cx="143996" cy="143996"/>
                </a:xfrm>
                <a:prstGeom prst="ellipse">
                  <a:avLst/>
                </a:prstGeom>
                <a:solidFill>
                  <a:srgbClr val="000080"/>
                </a:solidFill>
                <a:ln>
                  <a:solidFill>
                    <a:srgbClr val="000080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 dirty="0"/>
                </a:p>
              </p:txBody>
            </p:sp>
          </p:grpSp>
        </p:grpSp>
        <p:sp>
          <p:nvSpPr>
            <p:cNvPr id="4" name="Rectangle 3"/>
            <p:cNvSpPr/>
            <p:nvPr/>
          </p:nvSpPr>
          <p:spPr>
            <a:xfrm>
              <a:off x="5904313" y="4378514"/>
              <a:ext cx="1945585" cy="1849583"/>
            </a:xfrm>
            <a:prstGeom prst="rect">
              <a:avLst/>
            </a:prstGeom>
            <a:noFill/>
            <a:ln w="317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7" name="TextBox 46"/>
          <p:cNvSpPr txBox="1"/>
          <p:nvPr/>
        </p:nvSpPr>
        <p:spPr>
          <a:xfrm>
            <a:off x="7931806" y="1302737"/>
            <a:ext cx="392726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3 determinants of Fus</a:t>
            </a:r>
            <a:r>
              <a:rPr lang="en-US" baseline="30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present in both cases and controls- </a:t>
            </a:r>
            <a:r>
              <a:rPr lang="en-US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fusB/ fusC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(acquired genes), </a:t>
            </a:r>
            <a:r>
              <a:rPr lang="en-US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fusA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(acquired point mutation)</a:t>
            </a:r>
          </a:p>
          <a:p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fusC 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predominates in cases; CC1 isolate distribution </a:t>
            </a:r>
          </a:p>
          <a:p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Multiple distinct </a:t>
            </a:r>
            <a:r>
              <a:rPr lang="en-US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fusA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mutations; polyclonally distributed throughout population i.e. repeated independent acquisitions and not clonal expansion of a single Fus</a:t>
            </a:r>
            <a:r>
              <a:rPr lang="en-US" baseline="30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strain </a:t>
            </a:r>
          </a:p>
        </p:txBody>
      </p:sp>
      <p:sp>
        <p:nvSpPr>
          <p:cNvPr id="49" name="Trapezoid 48"/>
          <p:cNvSpPr/>
          <p:nvPr/>
        </p:nvSpPr>
        <p:spPr>
          <a:xfrm rot="12128531">
            <a:off x="3063535" y="1764139"/>
            <a:ext cx="1336688" cy="1497270"/>
          </a:xfrm>
          <a:prstGeom prst="trapezoid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Rectangle 49"/>
          <p:cNvSpPr/>
          <p:nvPr/>
        </p:nvSpPr>
        <p:spPr>
          <a:xfrm>
            <a:off x="5581265" y="2398379"/>
            <a:ext cx="2136179" cy="954107"/>
          </a:xfrm>
          <a:prstGeom prst="rect">
            <a:avLst/>
          </a:prstGeom>
          <a:ln w="19050" cmpd="sng">
            <a:solidFill>
              <a:srgbClr val="404040"/>
            </a:solidFill>
            <a:prstDash val="sysDash"/>
          </a:ln>
        </p:spPr>
        <p:txBody>
          <a:bodyPr wrap="square">
            <a:spAutoFit/>
          </a:bodyPr>
          <a:lstStyle/>
          <a:p>
            <a:pPr algn="ctr"/>
            <a:r>
              <a:rPr lang="en-GB" sz="1400" b="1" i="1" dirty="0">
                <a:solidFill>
                  <a:srgbClr val="595959"/>
                </a:solidFill>
              </a:rPr>
              <a:t>fusC</a:t>
            </a:r>
            <a:r>
              <a:rPr lang="en-GB" sz="1400" b="1" dirty="0">
                <a:solidFill>
                  <a:srgbClr val="595959"/>
                </a:solidFill>
              </a:rPr>
              <a:t> </a:t>
            </a:r>
          </a:p>
          <a:p>
            <a:pPr algn="ctr"/>
            <a:r>
              <a:rPr lang="en-GB" sz="1400" dirty="0">
                <a:solidFill>
                  <a:srgbClr val="595959"/>
                </a:solidFill>
              </a:rPr>
              <a:t>20% vs. 10% </a:t>
            </a:r>
          </a:p>
          <a:p>
            <a:pPr algn="ctr"/>
            <a:r>
              <a:rPr lang="en-GB" sz="1400" dirty="0">
                <a:solidFill>
                  <a:srgbClr val="595959"/>
                </a:solidFill>
              </a:rPr>
              <a:t>(95% CI for difference -4% to 24%, p=0.17) </a:t>
            </a:r>
            <a:endParaRPr lang="en-US" sz="1400" dirty="0">
              <a:solidFill>
                <a:srgbClr val="595959"/>
              </a:solidFill>
            </a:endParaRPr>
          </a:p>
        </p:txBody>
      </p:sp>
      <p:grpSp>
        <p:nvGrpSpPr>
          <p:cNvPr id="62" name="Group 61"/>
          <p:cNvGrpSpPr/>
          <p:nvPr/>
        </p:nvGrpSpPr>
        <p:grpSpPr>
          <a:xfrm>
            <a:off x="456511" y="1550819"/>
            <a:ext cx="5266070" cy="3909795"/>
            <a:chOff x="456511" y="1550819"/>
            <a:chExt cx="5266070" cy="3909795"/>
          </a:xfrm>
        </p:grpSpPr>
        <p:sp>
          <p:nvSpPr>
            <p:cNvPr id="51" name="Rectangle 50"/>
            <p:cNvSpPr/>
            <p:nvPr/>
          </p:nvSpPr>
          <p:spPr>
            <a:xfrm rot="19242208">
              <a:off x="4478377" y="2740701"/>
              <a:ext cx="776595" cy="133426"/>
            </a:xfrm>
            <a:prstGeom prst="rect">
              <a:avLst/>
            </a:prstGeom>
            <a:noFill/>
            <a:ln w="3175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Rectangle 51"/>
            <p:cNvSpPr/>
            <p:nvPr/>
          </p:nvSpPr>
          <p:spPr>
            <a:xfrm rot="20742024">
              <a:off x="4916411" y="3631460"/>
              <a:ext cx="792000" cy="133426"/>
            </a:xfrm>
            <a:prstGeom prst="rect">
              <a:avLst/>
            </a:prstGeom>
            <a:noFill/>
            <a:ln w="3175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4" name="Rectangle 53"/>
            <p:cNvSpPr/>
            <p:nvPr/>
          </p:nvSpPr>
          <p:spPr>
            <a:xfrm rot="695524">
              <a:off x="4930581" y="4643480"/>
              <a:ext cx="792000" cy="133426"/>
            </a:xfrm>
            <a:prstGeom prst="rect">
              <a:avLst/>
            </a:prstGeom>
            <a:noFill/>
            <a:ln w="3175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5" name="Rectangle 54"/>
            <p:cNvSpPr/>
            <p:nvPr/>
          </p:nvSpPr>
          <p:spPr>
            <a:xfrm rot="19962228">
              <a:off x="662651" y="5192069"/>
              <a:ext cx="792000" cy="133426"/>
            </a:xfrm>
            <a:prstGeom prst="rect">
              <a:avLst/>
            </a:prstGeom>
            <a:noFill/>
            <a:ln w="3175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6" name="Rectangle 55"/>
            <p:cNvSpPr/>
            <p:nvPr/>
          </p:nvSpPr>
          <p:spPr>
            <a:xfrm rot="19732045">
              <a:off x="728653" y="5327188"/>
              <a:ext cx="792000" cy="133426"/>
            </a:xfrm>
            <a:prstGeom prst="rect">
              <a:avLst/>
            </a:prstGeom>
            <a:noFill/>
            <a:ln w="3175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7" name="Rectangle 56"/>
            <p:cNvSpPr/>
            <p:nvPr/>
          </p:nvSpPr>
          <p:spPr>
            <a:xfrm rot="20367261">
              <a:off x="525626" y="4942738"/>
              <a:ext cx="792000" cy="133426"/>
            </a:xfrm>
            <a:prstGeom prst="rect">
              <a:avLst/>
            </a:prstGeom>
            <a:noFill/>
            <a:ln w="3175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8" name="Rectangle 57"/>
            <p:cNvSpPr/>
            <p:nvPr/>
          </p:nvSpPr>
          <p:spPr>
            <a:xfrm rot="789852">
              <a:off x="456511" y="3638203"/>
              <a:ext cx="792000" cy="133426"/>
            </a:xfrm>
            <a:prstGeom prst="rect">
              <a:avLst/>
            </a:prstGeom>
            <a:noFill/>
            <a:ln w="3175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9" name="Rectangle 58"/>
            <p:cNvSpPr/>
            <p:nvPr/>
          </p:nvSpPr>
          <p:spPr>
            <a:xfrm rot="2912909">
              <a:off x="1104479" y="2502131"/>
              <a:ext cx="792000" cy="133426"/>
            </a:xfrm>
            <a:prstGeom prst="rect">
              <a:avLst/>
            </a:prstGeom>
            <a:noFill/>
            <a:ln w="3175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0" name="Rectangle 59"/>
            <p:cNvSpPr/>
            <p:nvPr/>
          </p:nvSpPr>
          <p:spPr>
            <a:xfrm rot="5131285">
              <a:off x="2551597" y="1880106"/>
              <a:ext cx="792000" cy="133426"/>
            </a:xfrm>
            <a:prstGeom prst="rect">
              <a:avLst/>
            </a:prstGeom>
            <a:noFill/>
            <a:ln w="3175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1" name="Rectangle 60"/>
            <p:cNvSpPr/>
            <p:nvPr/>
          </p:nvSpPr>
          <p:spPr>
            <a:xfrm rot="18670991">
              <a:off x="4165915" y="2432741"/>
              <a:ext cx="776595" cy="133426"/>
            </a:xfrm>
            <a:prstGeom prst="rect">
              <a:avLst/>
            </a:prstGeom>
            <a:noFill/>
            <a:ln w="3175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3" name="Rectangle 62"/>
          <p:cNvSpPr/>
          <p:nvPr/>
        </p:nvSpPr>
        <p:spPr>
          <a:xfrm>
            <a:off x="5607048" y="3576983"/>
            <a:ext cx="2110396" cy="954107"/>
          </a:xfrm>
          <a:prstGeom prst="rect">
            <a:avLst/>
          </a:prstGeom>
          <a:ln w="19050" cmpd="sng">
            <a:solidFill>
              <a:srgbClr val="404040"/>
            </a:solidFill>
            <a:prstDash val="sysDash"/>
          </a:ln>
        </p:spPr>
        <p:txBody>
          <a:bodyPr wrap="square">
            <a:spAutoFit/>
          </a:bodyPr>
          <a:lstStyle/>
          <a:p>
            <a:pPr algn="ctr"/>
            <a:r>
              <a:rPr lang="en-GB" sz="1400" b="1" i="1" dirty="0">
                <a:solidFill>
                  <a:srgbClr val="595959"/>
                </a:solidFill>
              </a:rPr>
              <a:t>fusA</a:t>
            </a:r>
            <a:r>
              <a:rPr lang="en-GB" sz="1400" b="1" dirty="0">
                <a:solidFill>
                  <a:srgbClr val="595959"/>
                </a:solidFill>
              </a:rPr>
              <a:t> </a:t>
            </a:r>
          </a:p>
          <a:p>
            <a:pPr algn="ctr"/>
            <a:r>
              <a:rPr lang="en-GB" sz="1400" dirty="0">
                <a:solidFill>
                  <a:srgbClr val="595959"/>
                </a:solidFill>
              </a:rPr>
              <a:t>16% vs. 4% </a:t>
            </a:r>
          </a:p>
          <a:p>
            <a:pPr algn="ctr"/>
            <a:r>
              <a:rPr lang="en-GB" sz="1400" dirty="0">
                <a:solidFill>
                  <a:srgbClr val="595959"/>
                </a:solidFill>
              </a:rPr>
              <a:t>(95% CI for difference 0% to 23%, p=0.049)</a:t>
            </a:r>
            <a:endParaRPr lang="en-US" sz="1400" dirty="0">
              <a:solidFill>
                <a:srgbClr val="59595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9095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  <p:bldP spid="50" grpId="0" animBg="1"/>
      <p:bldP spid="6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GB" dirty="0"/>
              <a:t>Discussion 1: Prevalence of antimicrobial resistance in </a:t>
            </a:r>
            <a:r>
              <a:rPr lang="en-GB" i="1" dirty="0"/>
              <a:t>S. aureus</a:t>
            </a:r>
            <a:r>
              <a:rPr lang="en-GB" dirty="0"/>
              <a:t> from cases and controls </a:t>
            </a:r>
            <a:endParaRPr lang="en-GB" sz="2800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719404" y="1814052"/>
            <a:ext cx="10242607" cy="4240384"/>
          </a:xfrm>
        </p:spPr>
        <p:txBody>
          <a:bodyPr/>
          <a:lstStyle/>
          <a:p>
            <a:r>
              <a:rPr lang="en-GB" sz="2400" dirty="0"/>
              <a:t>MRSA prevalence is low in this Irish population (4% AD, 2% controls), reflecting general population prevalence </a:t>
            </a:r>
          </a:p>
          <a:p>
            <a:r>
              <a:rPr lang="en-GB" sz="2400" dirty="0"/>
              <a:t>Penicillin resistance is globally disseminated in </a:t>
            </a:r>
            <a:r>
              <a:rPr lang="en-GB" sz="2400" i="1" dirty="0"/>
              <a:t>S. aureus </a:t>
            </a:r>
            <a:r>
              <a:rPr lang="en-GB" sz="2400" dirty="0"/>
              <a:t>and does not differ between these disease groups</a:t>
            </a:r>
          </a:p>
          <a:p>
            <a:r>
              <a:rPr lang="en-GB" sz="2400" i="1" dirty="0"/>
              <a:t>qac</a:t>
            </a:r>
            <a:r>
              <a:rPr lang="en-GB" sz="2400" dirty="0"/>
              <a:t> gene carriage 8x greater in AD cases</a:t>
            </a:r>
          </a:p>
          <a:p>
            <a:r>
              <a:rPr lang="en-GB" sz="2400" u="sng" dirty="0"/>
              <a:t>But</a:t>
            </a:r>
            <a:r>
              <a:rPr lang="en-GB" sz="2400" dirty="0"/>
              <a:t> there is NOT a clear genotype phenotype correlation because of limited testing methodology</a:t>
            </a:r>
          </a:p>
          <a:p>
            <a:r>
              <a:rPr lang="en-GB" sz="2400" dirty="0"/>
              <a:t>Antiseptics are widely used in AD</a:t>
            </a:r>
            <a:r>
              <a:rPr lang="mr-IN" sz="2400" dirty="0"/>
              <a:t>…</a:t>
            </a:r>
            <a:r>
              <a:rPr lang="en-GB" sz="2400" dirty="0"/>
              <a:t> further studies warranted</a:t>
            </a:r>
          </a:p>
          <a:p>
            <a:endParaRPr lang="en-GB" sz="2400" dirty="0"/>
          </a:p>
          <a:p>
            <a:endParaRPr lang="en-GB" dirty="0"/>
          </a:p>
          <a:p>
            <a:endParaRPr lang="en-GB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667" y="374074"/>
            <a:ext cx="10767484" cy="609600"/>
          </a:xfrm>
        </p:spPr>
        <p:txBody>
          <a:bodyPr/>
          <a:lstStyle/>
          <a:p>
            <a:r>
              <a:rPr lang="en-US" dirty="0"/>
              <a:t>Discussion 2: fusidic acid resistance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404" y="1787236"/>
            <a:ext cx="10904559" cy="3729327"/>
          </a:xfrm>
        </p:spPr>
        <p:txBody>
          <a:bodyPr/>
          <a:lstStyle/>
          <a:p>
            <a:r>
              <a:rPr lang="en-US" sz="2400" dirty="0"/>
              <a:t>2.5 x commoner in AD- reflecting its frequent use in dermatology patients </a:t>
            </a:r>
          </a:p>
          <a:p>
            <a:endParaRPr lang="en-US" sz="2400" dirty="0"/>
          </a:p>
          <a:p>
            <a:r>
              <a:rPr lang="en-US" sz="2400" dirty="0"/>
              <a:t>Mupirocin resistance is low- indicates it is not being used routinely in either disease group</a:t>
            </a:r>
          </a:p>
          <a:p>
            <a:endParaRPr lang="en-US" sz="2400" dirty="0"/>
          </a:p>
          <a:p>
            <a:r>
              <a:rPr lang="en-US" sz="2400" dirty="0"/>
              <a:t>Mechanisms for Fus</a:t>
            </a:r>
            <a:r>
              <a:rPr lang="en-US" sz="2400" baseline="30000" dirty="0"/>
              <a:t>R</a:t>
            </a:r>
            <a:r>
              <a:rPr lang="en-US" sz="2400" dirty="0"/>
              <a:t> differ in AD: </a:t>
            </a:r>
          </a:p>
          <a:p>
            <a:pPr marL="268605" lvl="1" indent="0">
              <a:buNone/>
            </a:pPr>
            <a:r>
              <a:rPr lang="en-US" sz="2000" dirty="0"/>
              <a:t>1. </a:t>
            </a:r>
            <a:r>
              <a:rPr lang="en-US" sz="2000" i="1" dirty="0"/>
              <a:t>fusC</a:t>
            </a:r>
            <a:r>
              <a:rPr lang="en-US" sz="2000" dirty="0"/>
              <a:t>- most commonly present in CC1 isolates </a:t>
            </a:r>
          </a:p>
          <a:p>
            <a:pPr marL="268605" lvl="1" indent="0">
              <a:buNone/>
            </a:pPr>
            <a:r>
              <a:rPr lang="en-US" sz="2000" dirty="0"/>
              <a:t>2. </a:t>
            </a:r>
            <a:r>
              <a:rPr lang="en-US" sz="2000" i="1" dirty="0"/>
              <a:t>fusA</a:t>
            </a:r>
            <a:r>
              <a:rPr lang="en-US" sz="2000" dirty="0"/>
              <a:t> mutations indicate prior exposure to the drug (4x more frequent in AD patients)</a:t>
            </a:r>
          </a:p>
        </p:txBody>
      </p:sp>
    </p:spTree>
    <p:extLst>
      <p:ext uri="{BB962C8B-B14F-4D97-AF65-F5344CB8AC3E}">
        <p14:creationId xmlns:p14="http://schemas.microsoft.com/office/powerpoint/2010/main" val="18950237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 3: evidence needed for use of antimicrobials in 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404" y="1484784"/>
            <a:ext cx="11209359" cy="4306416"/>
          </a:xfrm>
        </p:spPr>
        <p:txBody>
          <a:bodyPr/>
          <a:lstStyle/>
          <a:p>
            <a:r>
              <a:rPr lang="en-US" sz="2400" dirty="0"/>
              <a:t>Antibiotics (oral/ topical) not supported by trial evidence in at least mildly infected AD (CREAM study)</a:t>
            </a:r>
          </a:p>
          <a:p>
            <a:endParaRPr lang="en-US" sz="2400" dirty="0"/>
          </a:p>
          <a:p>
            <a:r>
              <a:rPr lang="en-US" sz="2400" dirty="0"/>
              <a:t>Their benefit is more severe disease remains less clear- but is current normal practice</a:t>
            </a:r>
          </a:p>
          <a:p>
            <a:endParaRPr lang="en-US" sz="2400" dirty="0"/>
          </a:p>
          <a:p>
            <a:r>
              <a:rPr lang="en-US" sz="2400" dirty="0"/>
              <a:t>The impact of prescribing on </a:t>
            </a:r>
            <a:r>
              <a:rPr lang="en-US" sz="2400" i="1" dirty="0"/>
              <a:t>S. aureus </a:t>
            </a:r>
            <a:r>
              <a:rPr lang="en-US" sz="2400" dirty="0"/>
              <a:t>population structure in AD needs further assessed</a:t>
            </a:r>
          </a:p>
          <a:p>
            <a:pPr marL="0" indent="0">
              <a:buNone/>
            </a:pPr>
            <a:endParaRPr lang="en-US" sz="2400" dirty="0"/>
          </a:p>
          <a:p>
            <a:pPr algn="ctr"/>
            <a:r>
              <a:rPr lang="en-US" sz="2400" dirty="0"/>
              <a:t>Are we driving AMR in the wider context ?</a:t>
            </a:r>
          </a:p>
        </p:txBody>
      </p:sp>
    </p:spTree>
    <p:extLst>
      <p:ext uri="{BB962C8B-B14F-4D97-AF65-F5344CB8AC3E}">
        <p14:creationId xmlns:p14="http://schemas.microsoft.com/office/powerpoint/2010/main" val="11887921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Conclusions</a:t>
            </a:r>
            <a:br>
              <a:rPr lang="en-GB" dirty="0"/>
            </a:br>
            <a:r>
              <a:rPr lang="en-GB" sz="2800" dirty="0"/>
              <a:t>What does this study add?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405" y="1484784"/>
            <a:ext cx="10890704" cy="4031779"/>
          </a:xfrm>
        </p:spPr>
        <p:txBody>
          <a:bodyPr/>
          <a:lstStyle/>
          <a:p>
            <a:pPr lvl="0"/>
            <a:r>
              <a:rPr lang="en-GB" sz="2400" i="1" dirty="0"/>
              <a:t>S. aureus</a:t>
            </a:r>
            <a:r>
              <a:rPr lang="en-GB" sz="2400" dirty="0"/>
              <a:t> isolates from children with AD differ in their antimicrobial resistance profiles from healthy, non-atopic nasally colonised children. </a:t>
            </a:r>
          </a:p>
          <a:p>
            <a:pPr lvl="0"/>
            <a:endParaRPr lang="en-GB" sz="2400" dirty="0"/>
          </a:p>
          <a:p>
            <a:pPr lvl="0"/>
            <a:r>
              <a:rPr lang="en-GB" sz="2400" dirty="0"/>
              <a:t>Fusidic acid resistance is significantly more prevalent in AD cases, and arises through distinct genetic mechanisms when compared with healthy controls.</a:t>
            </a:r>
          </a:p>
          <a:p>
            <a:pPr lvl="0"/>
            <a:endParaRPr lang="en-GB" sz="2400" dirty="0"/>
          </a:p>
          <a:p>
            <a:pPr lvl="0"/>
            <a:r>
              <a:rPr lang="en-GB" sz="2400" dirty="0"/>
              <a:t>Carriage of plasmid derived genetic determinants associated with antiseptic resistance also clearly differentiated </a:t>
            </a:r>
            <a:r>
              <a:rPr lang="en-GB" sz="2400" i="1" dirty="0"/>
              <a:t>S. aureus</a:t>
            </a:r>
            <a:r>
              <a:rPr lang="en-GB" sz="2400" dirty="0"/>
              <a:t> from AD cases and controls.   </a:t>
            </a:r>
          </a:p>
          <a:p>
            <a:endParaRPr lang="en-GB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kerryphoto"/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2" t="5091" r="2475" b="18161"/>
          <a:stretch/>
        </p:blipFill>
        <p:spPr>
          <a:xfrm>
            <a:off x="8615667" y="869236"/>
            <a:ext cx="1619998" cy="1928324"/>
          </a:xfrm>
        </p:spPr>
      </p:pic>
      <p:pic>
        <p:nvPicPr>
          <p:cNvPr id="6" name="Picture 5" descr="DESIREE BENNETT.jp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42" t="3869" r="6942"/>
          <a:stretch/>
        </p:blipFill>
        <p:spPr>
          <a:xfrm>
            <a:off x="3528974" y="869236"/>
            <a:ext cx="1538725" cy="1944000"/>
          </a:xfrm>
          <a:prstGeom prst="rect">
            <a:avLst/>
          </a:prstGeom>
        </p:spPr>
      </p:pic>
      <p:pic>
        <p:nvPicPr>
          <p:cNvPr id="7" name="Picture 6" descr="Capture.PN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21" r="6489"/>
          <a:stretch/>
        </p:blipFill>
        <p:spPr>
          <a:xfrm>
            <a:off x="6838560" y="869236"/>
            <a:ext cx="1566002" cy="1943999"/>
          </a:xfrm>
          <a:prstGeom prst="rect">
            <a:avLst/>
          </a:prstGeom>
        </p:spPr>
      </p:pic>
      <p:pic>
        <p:nvPicPr>
          <p:cNvPr id="9" name="Content Placeholder 2" descr="IMG_1994.jp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" r="15828" b="19701"/>
          <a:stretch/>
        </p:blipFill>
        <p:spPr bwMode="auto">
          <a:xfrm>
            <a:off x="125450" y="869236"/>
            <a:ext cx="1505315" cy="19246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238399" y="2786527"/>
            <a:ext cx="1279417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+mj-lt"/>
              </a:rPr>
              <a:t>Dr. Catriona </a:t>
            </a:r>
          </a:p>
          <a:p>
            <a:pPr algn="ctr"/>
            <a:r>
              <a:rPr lang="en-US" sz="1600" dirty="0">
                <a:latin typeface="+mj-lt"/>
              </a:rPr>
              <a:t>Harkins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5816" y="2786527"/>
            <a:ext cx="891490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+mj-lt"/>
              </a:rPr>
              <a:t>Dr. Orla</a:t>
            </a:r>
          </a:p>
          <a:p>
            <a:pPr algn="ctr"/>
            <a:r>
              <a:rPr lang="en-US" sz="1600" dirty="0">
                <a:latin typeface="+mj-lt"/>
              </a:rPr>
              <a:t>Fleury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77179" y="2786527"/>
            <a:ext cx="1096975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+mj-lt"/>
              </a:rPr>
              <a:t>Dr. Kerry</a:t>
            </a:r>
          </a:p>
          <a:p>
            <a:pPr algn="ctr"/>
            <a:r>
              <a:rPr lang="en-US" sz="1600" dirty="0">
                <a:latin typeface="+mj-lt"/>
              </a:rPr>
              <a:t> Pettigrew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69899" y="2786527"/>
            <a:ext cx="1256874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+mj-lt"/>
              </a:rPr>
              <a:t>Dr. De</a:t>
            </a:r>
            <a:r>
              <a:rPr lang="en-US" sz="1600" dirty="0">
                <a:latin typeface="+mj-lt"/>
                <a:ea typeface="Lucida Grande"/>
                <a:cs typeface="Lucida Grande"/>
              </a:rPr>
              <a:t>s</a:t>
            </a:r>
            <a:r>
              <a:rPr lang="en-US" sz="1600" dirty="0">
                <a:latin typeface="+mj-lt"/>
              </a:rPr>
              <a:t>ire</a:t>
            </a:r>
            <a:r>
              <a:rPr lang="en-US" sz="1600" dirty="0">
                <a:latin typeface="+mj-lt"/>
                <a:ea typeface="Lucida Grande"/>
                <a:cs typeface="Lucida Grande"/>
              </a:rPr>
              <a:t>é</a:t>
            </a:r>
            <a:r>
              <a:rPr lang="en-US" sz="1600" dirty="0">
                <a:latin typeface="+mj-lt"/>
              </a:rPr>
              <a:t> </a:t>
            </a:r>
          </a:p>
          <a:p>
            <a:pPr algn="ctr"/>
            <a:r>
              <a:rPr lang="en-US" sz="1600" dirty="0">
                <a:latin typeface="+mj-lt"/>
              </a:rPr>
              <a:t>Bennett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58013" y="224195"/>
            <a:ext cx="10767484" cy="504280"/>
          </a:xfrm>
        </p:spPr>
        <p:txBody>
          <a:bodyPr/>
          <a:lstStyle/>
          <a:p>
            <a:r>
              <a:rPr lang="en-US" dirty="0"/>
              <a:t>The study team </a:t>
            </a:r>
          </a:p>
        </p:txBody>
      </p:sp>
      <p:pic>
        <p:nvPicPr>
          <p:cNvPr id="18" name="Picture 17" descr="Katarina_Oravcova.jpg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88" t="2385" r="11650" b="7172"/>
          <a:stretch/>
        </p:blipFill>
        <p:spPr>
          <a:xfrm>
            <a:off x="10446771" y="869236"/>
            <a:ext cx="1637039" cy="19440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631243" y="2786527"/>
            <a:ext cx="1268095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+mj-lt"/>
              </a:rPr>
              <a:t>Dr. Katarina </a:t>
            </a:r>
          </a:p>
          <a:p>
            <a:pPr algn="ctr"/>
            <a:r>
              <a:rPr lang="en-US" sz="1600" dirty="0">
                <a:latin typeface="+mj-lt"/>
              </a:rPr>
              <a:t>Oravcov</a:t>
            </a:r>
            <a:r>
              <a:rPr lang="en-US" sz="1600" dirty="0">
                <a:latin typeface="+mj-lt"/>
                <a:ea typeface="Lucida Grande"/>
                <a:cs typeface="Lucida Grande"/>
              </a:rPr>
              <a:t>á</a:t>
            </a:r>
            <a:endParaRPr lang="en-US" sz="1600" dirty="0">
              <a:latin typeface="+mj-lt"/>
            </a:endParaRPr>
          </a:p>
        </p:txBody>
      </p:sp>
      <p:pic>
        <p:nvPicPr>
          <p:cNvPr id="20" name="Picture 19" descr="Martin-McHugh.jp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8804" y="869236"/>
            <a:ext cx="1348651" cy="1943999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478781" y="2786527"/>
            <a:ext cx="948697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+mj-lt"/>
              </a:rPr>
              <a:t>Martin </a:t>
            </a:r>
          </a:p>
          <a:p>
            <a:pPr algn="ctr"/>
            <a:r>
              <a:rPr lang="en-US" sz="1600" dirty="0">
                <a:latin typeface="+mj-lt"/>
              </a:rPr>
              <a:t>McHugh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20010" y="2786527"/>
            <a:ext cx="1119718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+mj-lt"/>
              </a:rPr>
              <a:t>Dr. Maeve </a:t>
            </a:r>
          </a:p>
          <a:p>
            <a:pPr algn="ctr"/>
            <a:r>
              <a:rPr lang="en-US" sz="1600" dirty="0">
                <a:latin typeface="+mj-lt"/>
              </a:rPr>
              <a:t>McAleer </a:t>
            </a: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 rotWithShape="1">
          <a:blip r:embed="rId8"/>
          <a:srcRect b="10546"/>
          <a:stretch/>
        </p:blipFill>
        <p:spPr>
          <a:xfrm>
            <a:off x="1841870" y="869236"/>
            <a:ext cx="1475999" cy="1935723"/>
          </a:xfrm>
          <a:prstGeom prst="rect">
            <a:avLst/>
          </a:prstGeom>
        </p:spPr>
      </p:pic>
      <p:grpSp>
        <p:nvGrpSpPr>
          <p:cNvPr id="29" name="Group 28"/>
          <p:cNvGrpSpPr/>
          <p:nvPr/>
        </p:nvGrpSpPr>
        <p:grpSpPr>
          <a:xfrm>
            <a:off x="1118723" y="3574151"/>
            <a:ext cx="9954554" cy="2512667"/>
            <a:chOff x="1067093" y="3574151"/>
            <a:chExt cx="9954554" cy="2512667"/>
          </a:xfrm>
        </p:grpSpPr>
        <p:pic>
          <p:nvPicPr>
            <p:cNvPr id="5" name="Picture 4" descr="mtgh-266x300.jpg"/>
            <p:cNvPicPr>
              <a:picLocks noChangeAspect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443" r="6567"/>
            <a:stretch/>
          </p:blipFill>
          <p:spPr>
            <a:xfrm>
              <a:off x="9504969" y="3574151"/>
              <a:ext cx="1516678" cy="1943999"/>
            </a:xfrm>
            <a:prstGeom prst="rect">
              <a:avLst/>
            </a:prstGeom>
          </p:spPr>
        </p:pic>
        <p:pic>
          <p:nvPicPr>
            <p:cNvPr id="8" name="Picture 7" descr="Charlotte_Proby_5x7_1_.jpg"/>
            <p:cNvPicPr>
              <a:picLocks noChangeAspect="1"/>
            </p:cNvPicPr>
            <p:nvPr/>
          </p:nvPicPr>
          <p:blipFill rotWithShape="1"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4704"/>
            <a:stretch/>
          </p:blipFill>
          <p:spPr>
            <a:xfrm>
              <a:off x="2951948" y="3574151"/>
              <a:ext cx="1466155" cy="1955472"/>
            </a:xfrm>
            <a:prstGeom prst="rect">
              <a:avLst/>
            </a:prstGeom>
          </p:spPr>
        </p:pic>
        <p:sp>
          <p:nvSpPr>
            <p:cNvPr id="14" name="TextBox 13"/>
            <p:cNvSpPr txBox="1"/>
            <p:nvPr/>
          </p:nvSpPr>
          <p:spPr>
            <a:xfrm>
              <a:off x="9538090" y="5502042"/>
              <a:ext cx="1450437" cy="5847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latin typeface="+mj-lt"/>
                </a:rPr>
                <a:t>Prof. Matthew</a:t>
              </a:r>
            </a:p>
            <a:p>
              <a:pPr algn="ctr"/>
              <a:r>
                <a:rPr lang="en-US" sz="1600" dirty="0">
                  <a:latin typeface="+mj-lt"/>
                </a:rPr>
                <a:t>Holden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787293" y="5502042"/>
              <a:ext cx="1795464" cy="5847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+mj-lt"/>
                </a:rPr>
                <a:t>Prof. Charlotte</a:t>
              </a:r>
            </a:p>
            <a:p>
              <a:pPr algn="ctr"/>
              <a:r>
                <a:rPr lang="en-US" sz="1600" dirty="0">
                  <a:latin typeface="+mj-lt"/>
                </a:rPr>
                <a:t>Proby</a:t>
              </a:r>
            </a:p>
          </p:txBody>
        </p:sp>
        <p:pic>
          <p:nvPicPr>
            <p:cNvPr id="16" name="Picture 15" descr="PAR00017-Julian-Parkhill.jpg"/>
            <p:cNvPicPr>
              <a:picLocks noChangeAspect="1"/>
            </p:cNvPicPr>
            <p:nvPr/>
          </p:nvPicPr>
          <p:blipFill rotWithShape="1"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14" r="5493"/>
            <a:stretch/>
          </p:blipFill>
          <p:spPr>
            <a:xfrm>
              <a:off x="1067093" y="3574151"/>
              <a:ext cx="1728089" cy="1943999"/>
            </a:xfrm>
            <a:prstGeom prst="rect">
              <a:avLst/>
            </a:prstGeom>
          </p:spPr>
        </p:pic>
        <p:sp>
          <p:nvSpPr>
            <p:cNvPr id="17" name="TextBox 16"/>
            <p:cNvSpPr txBox="1"/>
            <p:nvPr/>
          </p:nvSpPr>
          <p:spPr>
            <a:xfrm>
              <a:off x="1325593" y="5502042"/>
              <a:ext cx="1211089" cy="5847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latin typeface="+mj-lt"/>
                </a:rPr>
                <a:t>Prof. Julian </a:t>
              </a:r>
            </a:p>
            <a:p>
              <a:pPr algn="ctr"/>
              <a:r>
                <a:rPr lang="en-US" sz="1600" dirty="0">
                  <a:latin typeface="+mj-lt"/>
                </a:rPr>
                <a:t>Parkhill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8100863" y="5502042"/>
              <a:ext cx="1074333" cy="5847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latin typeface="+mj-lt"/>
                </a:rPr>
                <a:t>Prof. Alan </a:t>
              </a:r>
            </a:p>
            <a:p>
              <a:pPr algn="ctr"/>
              <a:r>
                <a:rPr lang="en-US" sz="1600" dirty="0">
                  <a:latin typeface="+mj-lt"/>
                </a:rPr>
                <a:t>Irvine 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4829331" y="5502042"/>
              <a:ext cx="1119718" cy="5847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latin typeface="+mj-lt"/>
                </a:rPr>
                <a:t>Dr. Robert </a:t>
              </a:r>
            </a:p>
            <a:p>
              <a:pPr algn="ctr"/>
              <a:r>
                <a:rPr lang="en-US" sz="1600" dirty="0">
                  <a:latin typeface="+mj-lt"/>
                </a:rPr>
                <a:t>Dawe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6440514" y="5502042"/>
              <a:ext cx="1257175" cy="5847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latin typeface="+mj-lt"/>
                </a:rPr>
                <a:t>Prof. Joan </a:t>
              </a:r>
            </a:p>
            <a:p>
              <a:pPr algn="ctr"/>
              <a:r>
                <a:rPr lang="en-US" sz="1600" dirty="0">
                  <a:latin typeface="+mj-lt"/>
                </a:rPr>
                <a:t>Geoghegan </a:t>
              </a:r>
            </a:p>
          </p:txBody>
        </p:sp>
        <p:pic>
          <p:nvPicPr>
            <p:cNvPr id="2" name="Picture 1" descr="j_geoghegan.jpg"/>
            <p:cNvPicPr>
              <a:picLocks noChangeAspect="1"/>
            </p:cNvPicPr>
            <p:nvPr/>
          </p:nvPicPr>
          <p:blipFill rotWithShape="1"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141" r="8136"/>
            <a:stretch/>
          </p:blipFill>
          <p:spPr>
            <a:xfrm>
              <a:off x="6367110" y="3574151"/>
              <a:ext cx="1403982" cy="1943326"/>
            </a:xfrm>
            <a:prstGeom prst="rect">
              <a:avLst/>
            </a:prstGeom>
          </p:spPr>
        </p:pic>
        <p:pic>
          <p:nvPicPr>
            <p:cNvPr id="27" name="Picture 26"/>
            <p:cNvPicPr>
              <a:picLocks noChangeAspect="1"/>
            </p:cNvPicPr>
            <p:nvPr/>
          </p:nvPicPr>
          <p:blipFill rotWithShape="1">
            <a:blip r:embed="rId13"/>
            <a:srcRect l="-620" t="-2" r="15767" b="20649"/>
            <a:stretch/>
          </p:blipFill>
          <p:spPr>
            <a:xfrm>
              <a:off x="7921025" y="3574151"/>
              <a:ext cx="1434009" cy="1979998"/>
            </a:xfrm>
            <a:prstGeom prst="rect">
              <a:avLst/>
            </a:prstGeom>
          </p:spPr>
        </p:pic>
        <p:pic>
          <p:nvPicPr>
            <p:cNvPr id="28" name="Picture 27" descr="20130708_111550.jpg"/>
            <p:cNvPicPr>
              <a:picLocks noChangeAspect="1"/>
            </p:cNvPicPr>
            <p:nvPr/>
          </p:nvPicPr>
          <p:blipFill rotWithShape="1"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386" t="25610" r="32592"/>
            <a:stretch/>
          </p:blipFill>
          <p:spPr>
            <a:xfrm>
              <a:off x="4561203" y="3580155"/>
              <a:ext cx="1655974" cy="192397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Call for correspondence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Why not join the debate on this article through our correspondence section?</a:t>
            </a:r>
          </a:p>
          <a:p>
            <a:r>
              <a:rPr lang="en-GB" dirty="0"/>
              <a:t>Rapid responses should not exceed 350 words, four references and one figure</a:t>
            </a:r>
          </a:p>
          <a:p>
            <a:r>
              <a:rPr lang="en-GB" dirty="0"/>
              <a:t>Further details can be found </a:t>
            </a:r>
            <a:r>
              <a:rPr lang="en-GB" dirty="0">
                <a:hlinkClick r:id="rId2" action="ppaction://hlinkfile"/>
              </a:rPr>
              <a:t>here</a:t>
            </a:r>
            <a:endParaRPr lang="en-GB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b_pres4_medical">
  <a:themeElements>
    <a:clrScheme name="Wiley-Blackwell">
      <a:dk1>
        <a:sysClr val="windowText" lastClr="000000"/>
      </a:dk1>
      <a:lt1>
        <a:sysClr val="window" lastClr="FFFFFF"/>
      </a:lt1>
      <a:dk2>
        <a:srgbClr val="0098A0"/>
      </a:dk2>
      <a:lt2>
        <a:srgbClr val="FFFFFF"/>
      </a:lt2>
      <a:accent1>
        <a:srgbClr val="8DBD48"/>
      </a:accent1>
      <a:accent2>
        <a:srgbClr val="691872"/>
      </a:accent2>
      <a:accent3>
        <a:srgbClr val="EF8100"/>
      </a:accent3>
      <a:accent4>
        <a:srgbClr val="00B2DC"/>
      </a:accent4>
      <a:accent5>
        <a:srgbClr val="00367C"/>
      </a:accent5>
      <a:accent6>
        <a:srgbClr val="FDCA1B"/>
      </a:accent6>
      <a:hlink>
        <a:srgbClr val="0098A0"/>
      </a:hlink>
      <a:folHlink>
        <a:srgbClr val="0098A0"/>
      </a:folHlink>
    </a:clrScheme>
    <a:fontScheme name="Wiley-Blackwel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3175"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1531</TotalTime>
  <Words>1116</Words>
  <Application>Microsoft Office PowerPoint</Application>
  <PresentationFormat>Widescreen</PresentationFormat>
  <Paragraphs>182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Lucida Grande</vt:lpstr>
      <vt:lpstr>wb_pres4_medical</vt:lpstr>
      <vt:lpstr>  The widespread use of topical antimicrobials enriches for resistance in Staphylococcus aureus isolated from Atopic Dermatitis patients </vt:lpstr>
      <vt:lpstr>Catriona Harkins </vt:lpstr>
      <vt:lpstr>Introduction  What’s already known?</vt:lpstr>
      <vt:lpstr>Objective</vt:lpstr>
      <vt:lpstr>Methods 1: Patients and sampling </vt:lpstr>
      <vt:lpstr>Methods 2: Whole genome sequencing and Bioinformatic analyses </vt:lpstr>
      <vt:lpstr>Methods 3: Antimicrobial sensitivity testing and statistical analyses </vt:lpstr>
      <vt:lpstr>Results 1: Genetic backgrounds of S. aureus from cases and controls and distribution of resistance phenotypes</vt:lpstr>
      <vt:lpstr>Results 2: AMR gene distribution in S. aureus from AD patients and NC controls </vt:lpstr>
      <vt:lpstr>Results 3: Fusidic acid resistance arises through distinct mechanisms in AD patients</vt:lpstr>
      <vt:lpstr>Discussion 1: Prevalence of antimicrobial resistance in S. aureus from cases and controls </vt:lpstr>
      <vt:lpstr>Discussion 2: fusidic acid resistance </vt:lpstr>
      <vt:lpstr>Discussion 3: evidence needed for use of antimicrobials in AD</vt:lpstr>
      <vt:lpstr>Conclusions What does this study add?</vt:lpstr>
      <vt:lpstr>The study team </vt:lpstr>
      <vt:lpstr>Call for correspondence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paper</dc:title>
  <dc:creator>Susannah George</dc:creator>
  <cp:lastModifiedBy>John Caulfield</cp:lastModifiedBy>
  <cp:revision>128</cp:revision>
  <dcterms:created xsi:type="dcterms:W3CDTF">2017-06-01T22:51:00Z</dcterms:created>
  <dcterms:modified xsi:type="dcterms:W3CDTF">2018-06-28T13:53:08Z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1033-10.2.0.5996</vt:lpwstr>
  </property>
</Properties>
</file>